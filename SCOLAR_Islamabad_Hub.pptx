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5C"/>
        </a:solidFill>
      </p:bgPr>
    </p:bg>
    <p:spTree>
      <p:nvGrpSpPr>
        <p:cNvPr id="1" name=""/>
        <p:cNvGrpSpPr/>
        <p:nvPr/>
      </p:nvGrpSpPr>
      <p:grpSpPr>
        <a:xfrm>
          <a:off x="0" y="0"/>
          <a:ext cx="0" cy="0"/>
          <a:chOff x="0" y="0"/>
          <a:chExt cx="0" cy="0"/>
        </a:xfrm>
      </p:grpSpPr>
      <p:sp>
        <p:nvSpPr>
          <p:cNvPr id="2" name="Shape 0"/>
          <p:cNvSpPr/>
          <p:nvPr/>
        </p:nvSpPr>
        <p:spPr>
          <a:xfrm>
            <a:off x="8869680" y="-1645920"/>
            <a:ext cx="5029200" cy="5029200"/>
          </a:xfrm>
          <a:prstGeom prst="ellipse">
            <a:avLst/>
          </a:prstGeom>
          <a:solidFill>
            <a:srgbClr val="2E9BB8">
              <a:alpha val="20000"/>
            </a:srgbClr>
          </a:solidFill>
          <a:ln/>
        </p:spPr>
      </p:sp>
      <p:sp>
        <p:nvSpPr>
          <p:cNvPr id="3" name="Shape 1"/>
          <p:cNvSpPr/>
          <p:nvPr/>
        </p:nvSpPr>
        <p:spPr>
          <a:xfrm>
            <a:off x="-1645920" y="4754880"/>
            <a:ext cx="3840480" cy="3840480"/>
          </a:xfrm>
          <a:prstGeom prst="ellipse">
            <a:avLst/>
          </a:prstGeom>
          <a:solidFill>
            <a:srgbClr val="2E9BB8">
              <a:alpha val="15000"/>
            </a:srgbClr>
          </a:solidFill>
          <a:ln/>
        </p:spPr>
      </p:sp>
      <p:sp>
        <p:nvSpPr>
          <p:cNvPr id="4" name="Text 2"/>
          <p:cNvSpPr/>
          <p:nvPr/>
        </p:nvSpPr>
        <p:spPr>
          <a:xfrm>
            <a:off x="731520" y="1965960"/>
            <a:ext cx="10698480" cy="457200"/>
          </a:xfrm>
          <a:prstGeom prst="rect">
            <a:avLst/>
          </a:prstGeom>
          <a:noFill/>
          <a:ln/>
        </p:spPr>
        <p:txBody>
          <a:bodyPr wrap="square" rtlCol="0" anchor="ctr"/>
          <a:lstStyle/>
          <a:p>
            <a:pPr indent="0" marL="0">
              <a:buNone/>
            </a:pPr>
            <a:r>
              <a:rPr lang="en-US" sz="1600" b="1" spc="400" kern="0" dirty="0">
                <a:solidFill>
                  <a:srgbClr val="2E9BB8"/>
                </a:solidFill>
                <a:latin typeface="Calibri" pitchFamily="34" charset="0"/>
                <a:ea typeface="Calibri" pitchFamily="34" charset="-122"/>
                <a:cs typeface="Calibri" pitchFamily="34" charset="-120"/>
              </a:rPr>
              <a:t>SCOLAR NETWORK</a:t>
            </a:r>
            <a:endParaRPr lang="en-US" sz="1600" dirty="0"/>
          </a:p>
        </p:txBody>
      </p:sp>
      <p:sp>
        <p:nvSpPr>
          <p:cNvPr id="5" name="Text 3"/>
          <p:cNvSpPr/>
          <p:nvPr/>
        </p:nvSpPr>
        <p:spPr>
          <a:xfrm>
            <a:off x="731520" y="2377440"/>
            <a:ext cx="1069848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Islamabad Candidate Hub</a:t>
            </a:r>
            <a:endParaRPr lang="en-US" sz="4400" dirty="0"/>
          </a:p>
        </p:txBody>
      </p:sp>
      <p:sp>
        <p:nvSpPr>
          <p:cNvPr id="6" name="Text 4"/>
          <p:cNvSpPr/>
          <p:nvPr/>
        </p:nvSpPr>
        <p:spPr>
          <a:xfrm>
            <a:off x="731520" y="3246120"/>
            <a:ext cx="10698480" cy="548640"/>
          </a:xfrm>
          <a:prstGeom prst="rect">
            <a:avLst/>
          </a:prstGeom>
          <a:noFill/>
          <a:ln/>
        </p:spPr>
        <p:txBody>
          <a:bodyPr wrap="square" rtlCol="0" anchor="ctr"/>
          <a:lstStyle/>
          <a:p>
            <a:pPr indent="0" marL="0">
              <a:buNone/>
            </a:pPr>
            <a:r>
              <a:rPr lang="en-US" sz="1800" i="1" dirty="0">
                <a:solidFill>
                  <a:srgbClr val="CFE3EC"/>
                </a:solidFill>
                <a:latin typeface="Calibri" pitchFamily="34" charset="0"/>
                <a:ea typeface="Calibri" pitchFamily="34" charset="-122"/>
                <a:cs typeface="Calibri" pitchFamily="34" charset="-120"/>
              </a:rPr>
              <a:t>Project Portfolio &amp; Activity Plan</a:t>
            </a:r>
            <a:endParaRPr lang="en-US" sz="1800" dirty="0"/>
          </a:p>
        </p:txBody>
      </p:sp>
      <p:sp>
        <p:nvSpPr>
          <p:cNvPr id="7" name="Shape 5"/>
          <p:cNvSpPr/>
          <p:nvPr/>
        </p:nvSpPr>
        <p:spPr>
          <a:xfrm>
            <a:off x="777240" y="3977640"/>
            <a:ext cx="1280160" cy="0"/>
          </a:xfrm>
          <a:prstGeom prst="line">
            <a:avLst/>
          </a:prstGeom>
          <a:noFill/>
          <a:ln w="31750">
            <a:solidFill>
              <a:srgbClr val="2E9BB8"/>
            </a:solidFill>
            <a:prstDash val="solid"/>
          </a:ln>
        </p:spPr>
      </p:sp>
      <p:sp>
        <p:nvSpPr>
          <p:cNvPr id="8" name="Text 6"/>
          <p:cNvSpPr/>
          <p:nvPr/>
        </p:nvSpPr>
        <p:spPr>
          <a:xfrm>
            <a:off x="777240" y="4206240"/>
            <a:ext cx="5486400" cy="365760"/>
          </a:xfrm>
          <a:prstGeom prst="rect">
            <a:avLst/>
          </a:prstGeom>
          <a:noFill/>
          <a:ln/>
        </p:spPr>
        <p:txBody>
          <a:bodyPr wrap="square" rtlCol="0" anchor="ctr"/>
          <a:lstStyle/>
          <a:p>
            <a:pPr indent="0" marL="0">
              <a:buNone/>
            </a:pPr>
            <a:r>
              <a:rPr lang="en-US" sz="1300" dirty="0">
                <a:solidFill>
                  <a:srgbClr val="9FC7D6"/>
                </a:solidFill>
                <a:latin typeface="Calibri" pitchFamily="34" charset="0"/>
                <a:ea typeface="Calibri" pitchFamily="34" charset="-122"/>
                <a:cs typeface="Calibri" pitchFamily="34" charset="-120"/>
              </a:rPr>
              <a:t>Hub Curator   </a:t>
            </a:r>
            <a:pPr indent="0" marL="0">
              <a:buNone/>
            </a:pPr>
            <a:r>
              <a:rPr lang="en-US" sz="1500" b="1" dirty="0">
                <a:solidFill>
                  <a:srgbClr val="FFFFFF"/>
                </a:solidFill>
                <a:latin typeface="Calibri" pitchFamily="34" charset="0"/>
                <a:ea typeface="Calibri" pitchFamily="34" charset="-122"/>
                <a:cs typeface="Calibri" pitchFamily="34" charset="-120"/>
              </a:rPr>
              <a:t>Tariq Asghar</a:t>
            </a:r>
            <a:endParaRPr lang="en-US" sz="1300" dirty="0"/>
          </a:p>
        </p:txBody>
      </p:sp>
      <p:sp>
        <p:nvSpPr>
          <p:cNvPr id="9" name="Text 7"/>
          <p:cNvSpPr/>
          <p:nvPr/>
        </p:nvSpPr>
        <p:spPr>
          <a:xfrm>
            <a:off x="777240" y="6263640"/>
            <a:ext cx="5486400" cy="320040"/>
          </a:xfrm>
          <a:prstGeom prst="rect">
            <a:avLst/>
          </a:prstGeom>
          <a:noFill/>
          <a:ln/>
        </p:spPr>
        <p:txBody>
          <a:bodyPr wrap="square" rtlCol="0" anchor="ctr"/>
          <a:lstStyle/>
          <a:p>
            <a:pPr indent="0" marL="0">
              <a:buNone/>
            </a:pPr>
            <a:r>
              <a:rPr lang="en-US" sz="1100" dirty="0">
                <a:solidFill>
                  <a:srgbClr val="7FA6B6"/>
                </a:solidFill>
                <a:latin typeface="Calibri" pitchFamily="34" charset="0"/>
                <a:ea typeface="Calibri" pitchFamily="34" charset="-122"/>
                <a:cs typeface="Calibri" pitchFamily="34" charset="-120"/>
              </a:rPr>
              <a:t>Powered by SCOLAR Network  |  Pakistan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000" b="1" dirty="0">
                <a:solidFill>
                  <a:srgbClr val="0A3D5C"/>
                </a:solidFill>
                <a:latin typeface="Cambria" pitchFamily="34" charset="0"/>
                <a:ea typeface="Cambria" pitchFamily="34" charset="-122"/>
                <a:cs typeface="Cambria" pitchFamily="34" charset="-120"/>
              </a:rPr>
              <a:t>About the Hub</a:t>
            </a:r>
            <a:endParaRPr lang="en-US" sz="3000" dirty="0"/>
          </a:p>
        </p:txBody>
      </p:sp>
      <p:sp>
        <p:nvSpPr>
          <p:cNvPr id="3" name="Shape 1"/>
          <p:cNvSpPr/>
          <p:nvPr/>
        </p:nvSpPr>
        <p:spPr>
          <a:xfrm>
            <a:off x="548640" y="1143000"/>
            <a:ext cx="4937760" cy="36576"/>
          </a:xfrm>
          <a:prstGeom prst="rect">
            <a:avLst/>
          </a:prstGeom>
          <a:solidFill>
            <a:srgbClr val="F3F7F9"/>
          </a:solidFill>
          <a:ln/>
        </p:spPr>
      </p:sp>
      <p:sp>
        <p:nvSpPr>
          <p:cNvPr id="4" name="Text 2"/>
          <p:cNvSpPr/>
          <p:nvPr/>
        </p:nvSpPr>
        <p:spPr>
          <a:xfrm>
            <a:off x="548640" y="1463040"/>
            <a:ext cx="6492240" cy="3291840"/>
          </a:xfrm>
          <a:prstGeom prst="rect">
            <a:avLst/>
          </a:prstGeom>
          <a:noFill/>
          <a:ln/>
        </p:spPr>
        <p:txBody>
          <a:bodyPr wrap="square" rtlCol="0" anchor="ctr"/>
          <a:lstStyle/>
          <a:p>
            <a:pPr marL="342900" indent="-342900">
              <a:lnSpc>
                <a:spcPct val="125000"/>
              </a:lnSpc>
              <a:spcAft>
                <a:spcPts val="1200"/>
              </a:spcAft>
              <a:buSzPct val="100000"/>
              <a:buChar char="•"/>
            </a:pPr>
            <a:r>
              <a:rPr lang="en-US" sz="1500" dirty="0">
                <a:solidFill>
                  <a:srgbClr val="17242D"/>
                </a:solidFill>
                <a:latin typeface="Calibri" pitchFamily="34" charset="0"/>
                <a:ea typeface="Calibri" pitchFamily="34" charset="-122"/>
                <a:cs typeface="Calibri" pitchFamily="34" charset="-120"/>
              </a:rPr>
              <a:t>SCOLAR Network connects students, professionals, and young leaders across the SCO (Shanghai Cooperation Organisation) member countries.</a:t>
            </a:r>
            <a:endParaRPr lang="en-US" sz="1500" dirty="0"/>
          </a:p>
          <a:p>
            <a:pPr marL="342900" indent="-342900">
              <a:lnSpc>
                <a:spcPct val="125000"/>
              </a:lnSpc>
              <a:spcAft>
                <a:spcPts val="1200"/>
              </a:spcAft>
              <a:buSzPct val="100000"/>
              <a:buChar char="•"/>
            </a:pPr>
            <a:r>
              <a:rPr lang="en-US" sz="1500" dirty="0">
                <a:solidFill>
                  <a:srgbClr val="17242D"/>
                </a:solidFill>
                <a:latin typeface="Calibri" pitchFamily="34" charset="0"/>
                <a:ea typeface="Calibri" pitchFamily="34" charset="-122"/>
                <a:cs typeface="Calibri" pitchFamily="34" charset="-120"/>
              </a:rPr>
              <a:t>The Islamabad Candidate Hub is the Pakistan chapter. It runs local projects and links them into the wider SCOLAR network of chapters.</a:t>
            </a:r>
            <a:endParaRPr lang="en-US" sz="1500" dirty="0"/>
          </a:p>
          <a:p>
            <a:pPr marL="342900" indent="-342900">
              <a:lnSpc>
                <a:spcPct val="125000"/>
              </a:lnSpc>
              <a:buSzPct val="100000"/>
              <a:buChar char="•"/>
            </a:pPr>
            <a:r>
              <a:rPr lang="en-US" sz="1500" dirty="0">
                <a:solidFill>
                  <a:srgbClr val="17242D"/>
                </a:solidFill>
                <a:latin typeface="Calibri" pitchFamily="34" charset="0"/>
                <a:ea typeface="Calibri" pitchFamily="34" charset="-122"/>
                <a:cs typeface="Calibri" pitchFamily="34" charset="-120"/>
              </a:rPr>
              <a:t>The hub focuses on people-to-people connections, practical skills, and youth leadership — not on taking sides on political issues between SCO countries, unless the topic is presented by an outside expert.</a:t>
            </a:r>
            <a:endParaRPr lang="en-US" sz="1500" dirty="0"/>
          </a:p>
        </p:txBody>
      </p:sp>
      <p:sp>
        <p:nvSpPr>
          <p:cNvPr id="5" name="Shape 3"/>
          <p:cNvSpPr/>
          <p:nvPr/>
        </p:nvSpPr>
        <p:spPr>
          <a:xfrm>
            <a:off x="7452360" y="1463040"/>
            <a:ext cx="4160520" cy="2651760"/>
          </a:xfrm>
          <a:prstGeom prst="roundRect">
            <a:avLst>
              <a:gd name="adj" fmla="val 4138"/>
            </a:avLst>
          </a:prstGeom>
          <a:solidFill>
            <a:srgbClr val="F3F7F9"/>
          </a:solidFill>
          <a:ln/>
          <a:effectLst>
            <a:outerShdw sx="100000" sy="100000" kx="0" ky="0" algn="bl" rotWithShape="0" blurRad="101600" dist="38100" dir="5400000">
              <a:srgbClr val="AAB4BC">
                <a:alpha val="30000"/>
              </a:srgbClr>
            </a:outerShdw>
          </a:effectLst>
        </p:spPr>
      </p:sp>
      <p:sp>
        <p:nvSpPr>
          <p:cNvPr id="6" name="Shape 4"/>
          <p:cNvSpPr/>
          <p:nvPr/>
        </p:nvSpPr>
        <p:spPr>
          <a:xfrm>
            <a:off x="7772400" y="1783080"/>
            <a:ext cx="777240" cy="777240"/>
          </a:xfrm>
          <a:prstGeom prst="ellipse">
            <a:avLst/>
          </a:prstGeom>
          <a:solidFill>
            <a:srgbClr val="0A3D5C"/>
          </a:solidFill>
          <a:ln/>
        </p:spPr>
      </p:sp>
      <p:sp>
        <p:nvSpPr>
          <p:cNvPr id="7" name="Text 5"/>
          <p:cNvSpPr/>
          <p:nvPr/>
        </p:nvSpPr>
        <p:spPr>
          <a:xfrm>
            <a:off x="7772400" y="1783080"/>
            <a:ext cx="777240" cy="7772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a:t>
            </a:r>
            <a:endParaRPr lang="en-US" sz="2000" dirty="0"/>
          </a:p>
        </p:txBody>
      </p:sp>
      <p:sp>
        <p:nvSpPr>
          <p:cNvPr id="8" name="Text 6"/>
          <p:cNvSpPr/>
          <p:nvPr/>
        </p:nvSpPr>
        <p:spPr>
          <a:xfrm>
            <a:off x="8732520" y="1828800"/>
            <a:ext cx="2743200" cy="320040"/>
          </a:xfrm>
          <a:prstGeom prst="rect">
            <a:avLst/>
          </a:prstGeom>
          <a:noFill/>
          <a:ln/>
        </p:spPr>
        <p:txBody>
          <a:bodyPr wrap="square" rtlCol="0" anchor="ctr"/>
          <a:lstStyle/>
          <a:p>
            <a:pPr indent="0" marL="0">
              <a:buNone/>
            </a:pPr>
            <a:r>
              <a:rPr lang="en-US" sz="1200" dirty="0">
                <a:solidFill>
                  <a:srgbClr val="5B6B76"/>
                </a:solidFill>
                <a:latin typeface="Calibri" pitchFamily="34" charset="0"/>
                <a:ea typeface="Calibri" pitchFamily="34" charset="-122"/>
                <a:cs typeface="Calibri" pitchFamily="34" charset="-120"/>
              </a:rPr>
              <a:t>Hub Curator</a:t>
            </a:r>
            <a:endParaRPr lang="en-US" sz="1200" dirty="0"/>
          </a:p>
        </p:txBody>
      </p:sp>
      <p:sp>
        <p:nvSpPr>
          <p:cNvPr id="9" name="Text 7"/>
          <p:cNvSpPr/>
          <p:nvPr/>
        </p:nvSpPr>
        <p:spPr>
          <a:xfrm>
            <a:off x="8732520" y="2103120"/>
            <a:ext cx="2743200" cy="411480"/>
          </a:xfrm>
          <a:prstGeom prst="rect">
            <a:avLst/>
          </a:prstGeom>
          <a:noFill/>
          <a:ln/>
        </p:spPr>
        <p:txBody>
          <a:bodyPr wrap="square" rtlCol="0" anchor="ctr"/>
          <a:lstStyle/>
          <a:p>
            <a:pPr indent="0" marL="0">
              <a:buNone/>
            </a:pPr>
            <a:r>
              <a:rPr lang="en-US" sz="1900" b="1" dirty="0">
                <a:solidFill>
                  <a:srgbClr val="0A3D5C"/>
                </a:solidFill>
                <a:latin typeface="Cambria" pitchFamily="34" charset="0"/>
                <a:ea typeface="Cambria" pitchFamily="34" charset="-122"/>
                <a:cs typeface="Cambria" pitchFamily="34" charset="-120"/>
              </a:rPr>
              <a:t>Tariq Asghar</a:t>
            </a:r>
            <a:endParaRPr lang="en-US" sz="1900" dirty="0"/>
          </a:p>
        </p:txBody>
      </p:sp>
      <p:sp>
        <p:nvSpPr>
          <p:cNvPr id="10" name="Shape 8"/>
          <p:cNvSpPr/>
          <p:nvPr/>
        </p:nvSpPr>
        <p:spPr>
          <a:xfrm>
            <a:off x="7772400" y="2788920"/>
            <a:ext cx="3520440" cy="0"/>
          </a:xfrm>
          <a:prstGeom prst="line">
            <a:avLst/>
          </a:prstGeom>
          <a:noFill/>
          <a:ln w="12700">
            <a:solidFill>
              <a:srgbClr val="D6DFE3"/>
            </a:solidFill>
            <a:prstDash val="solid"/>
          </a:ln>
        </p:spPr>
      </p:sp>
      <p:sp>
        <p:nvSpPr>
          <p:cNvPr id="11" name="Text 9"/>
          <p:cNvSpPr/>
          <p:nvPr/>
        </p:nvSpPr>
        <p:spPr>
          <a:xfrm>
            <a:off x="7772400" y="2926080"/>
            <a:ext cx="3566160" cy="1097280"/>
          </a:xfrm>
          <a:prstGeom prst="rect">
            <a:avLst/>
          </a:prstGeom>
          <a:noFill/>
          <a:ln/>
        </p:spPr>
        <p:txBody>
          <a:bodyPr wrap="square" rtlCol="0" anchor="ctr"/>
          <a:lstStyle/>
          <a:p>
            <a:pPr indent="0" marL="0">
              <a:lnSpc>
                <a:spcPct val="120000"/>
              </a:lnSpc>
              <a:buNone/>
            </a:pPr>
            <a:r>
              <a:rPr lang="en-US" sz="1250" dirty="0">
                <a:solidFill>
                  <a:srgbClr val="17242D"/>
                </a:solidFill>
                <a:latin typeface="Calibri" pitchFamily="34" charset="0"/>
                <a:ea typeface="Calibri" pitchFamily="34" charset="-122"/>
                <a:cs typeface="Calibri" pitchFamily="34" charset="-120"/>
              </a:rPr>
              <a:t>Leads the Islamabad hub — sets the project calendar, coordinates volunteers, and represents the hub within the SCOLAR network.</a:t>
            </a:r>
            <a:endParaRPr lang="en-US" sz="1250" dirty="0"/>
          </a:p>
        </p:txBody>
      </p:sp>
      <p:sp>
        <p:nvSpPr>
          <p:cNvPr id="12" name="Shape 10"/>
          <p:cNvSpPr/>
          <p:nvPr/>
        </p:nvSpPr>
        <p:spPr>
          <a:xfrm>
            <a:off x="548640" y="5029200"/>
            <a:ext cx="2103120" cy="1280160"/>
          </a:xfrm>
          <a:prstGeom prst="roundRect">
            <a:avLst>
              <a:gd name="adj" fmla="val 7143"/>
            </a:avLst>
          </a:prstGeom>
          <a:solidFill>
            <a:srgbClr val="0A3D5C"/>
          </a:solidFill>
          <a:ln/>
        </p:spPr>
      </p:sp>
      <p:sp>
        <p:nvSpPr>
          <p:cNvPr id="13" name="Text 11"/>
          <p:cNvSpPr/>
          <p:nvPr/>
        </p:nvSpPr>
        <p:spPr>
          <a:xfrm>
            <a:off x="548640" y="5138928"/>
            <a:ext cx="2103120" cy="594360"/>
          </a:xfrm>
          <a:prstGeom prst="rect">
            <a:avLst/>
          </a:prstGeom>
          <a:noFill/>
          <a:ln/>
        </p:spPr>
        <p:txBody>
          <a:bodyPr wrap="square" rtlCol="0" anchor="ctr"/>
          <a:lstStyle/>
          <a:p>
            <a:pPr algn="ctr" indent="0" marL="0">
              <a:buNone/>
            </a:pPr>
            <a:r>
              <a:rPr lang="en-US" sz="2600" b="1" dirty="0">
                <a:solidFill>
                  <a:srgbClr val="2E9BB8"/>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548640" y="5715000"/>
            <a:ext cx="2103120" cy="365760"/>
          </a:xfrm>
          <a:prstGeom prst="rect">
            <a:avLst/>
          </a:prstGeom>
          <a:noFill/>
          <a:ln/>
        </p:spPr>
        <p:txBody>
          <a:bodyPr wrap="square" rtlCol="0" anchor="ctr"/>
          <a:lstStyle/>
          <a:p>
            <a:pPr algn="ctr" indent="0" marL="0">
              <a:buNone/>
            </a:pPr>
            <a:r>
              <a:rPr lang="en-US" sz="1100" dirty="0">
                <a:solidFill>
                  <a:srgbClr val="CFE3EC"/>
                </a:solidFill>
                <a:latin typeface="Calibri" pitchFamily="34" charset="0"/>
                <a:ea typeface="Calibri" pitchFamily="34" charset="-122"/>
                <a:cs typeface="Calibri" pitchFamily="34" charset="-120"/>
              </a:rPr>
              <a:t>Active Projects</a:t>
            </a:r>
            <a:endParaRPr lang="en-US" sz="1100" dirty="0"/>
          </a:p>
        </p:txBody>
      </p:sp>
      <p:sp>
        <p:nvSpPr>
          <p:cNvPr id="15" name="Shape 13"/>
          <p:cNvSpPr/>
          <p:nvPr/>
        </p:nvSpPr>
        <p:spPr>
          <a:xfrm>
            <a:off x="2880360" y="5029200"/>
            <a:ext cx="2103120" cy="1280160"/>
          </a:xfrm>
          <a:prstGeom prst="roundRect">
            <a:avLst>
              <a:gd name="adj" fmla="val 7143"/>
            </a:avLst>
          </a:prstGeom>
          <a:solidFill>
            <a:srgbClr val="0A3D5C"/>
          </a:solidFill>
          <a:ln/>
        </p:spPr>
      </p:sp>
      <p:sp>
        <p:nvSpPr>
          <p:cNvPr id="16" name="Text 14"/>
          <p:cNvSpPr/>
          <p:nvPr/>
        </p:nvSpPr>
        <p:spPr>
          <a:xfrm>
            <a:off x="2880360" y="5138928"/>
            <a:ext cx="2103120" cy="594360"/>
          </a:xfrm>
          <a:prstGeom prst="rect">
            <a:avLst/>
          </a:prstGeom>
          <a:noFill/>
          <a:ln/>
        </p:spPr>
        <p:txBody>
          <a:bodyPr wrap="square" rtlCol="0" anchor="ctr"/>
          <a:lstStyle/>
          <a:p>
            <a:pPr algn="ctr" indent="0" marL="0">
              <a:buNone/>
            </a:pPr>
            <a:r>
              <a:rPr lang="en-US" sz="2600" b="1" dirty="0">
                <a:solidFill>
                  <a:srgbClr val="2E9BB8"/>
                </a:solidFill>
                <a:latin typeface="Cambria" pitchFamily="34" charset="0"/>
                <a:ea typeface="Cambria" pitchFamily="34" charset="-122"/>
                <a:cs typeface="Cambria" pitchFamily="34" charset="-120"/>
              </a:rPr>
              <a:t>SCO</a:t>
            </a:r>
            <a:endParaRPr lang="en-US" sz="2600" dirty="0"/>
          </a:p>
        </p:txBody>
      </p:sp>
      <p:sp>
        <p:nvSpPr>
          <p:cNvPr id="17" name="Text 15"/>
          <p:cNvSpPr/>
          <p:nvPr/>
        </p:nvSpPr>
        <p:spPr>
          <a:xfrm>
            <a:off x="2880360" y="5715000"/>
            <a:ext cx="2103120" cy="365760"/>
          </a:xfrm>
          <a:prstGeom prst="rect">
            <a:avLst/>
          </a:prstGeom>
          <a:noFill/>
          <a:ln/>
        </p:spPr>
        <p:txBody>
          <a:bodyPr wrap="square" rtlCol="0" anchor="ctr"/>
          <a:lstStyle/>
          <a:p>
            <a:pPr algn="ctr" indent="0" marL="0">
              <a:buNone/>
            </a:pPr>
            <a:r>
              <a:rPr lang="en-US" sz="1100" dirty="0">
                <a:solidFill>
                  <a:srgbClr val="CFE3EC"/>
                </a:solidFill>
                <a:latin typeface="Calibri" pitchFamily="34" charset="0"/>
                <a:ea typeface="Calibri" pitchFamily="34" charset="-122"/>
                <a:cs typeface="Calibri" pitchFamily="34" charset="-120"/>
              </a:rPr>
              <a:t>Region Focus</a:t>
            </a:r>
            <a:endParaRPr lang="en-US" sz="1100" dirty="0"/>
          </a:p>
        </p:txBody>
      </p:sp>
      <p:sp>
        <p:nvSpPr>
          <p:cNvPr id="18" name="Shape 16"/>
          <p:cNvSpPr/>
          <p:nvPr/>
        </p:nvSpPr>
        <p:spPr>
          <a:xfrm>
            <a:off x="5212080" y="5029200"/>
            <a:ext cx="2103120" cy="1280160"/>
          </a:xfrm>
          <a:prstGeom prst="roundRect">
            <a:avLst>
              <a:gd name="adj" fmla="val 7143"/>
            </a:avLst>
          </a:prstGeom>
          <a:solidFill>
            <a:srgbClr val="0A3D5C"/>
          </a:solidFill>
          <a:ln/>
        </p:spPr>
      </p:sp>
      <p:sp>
        <p:nvSpPr>
          <p:cNvPr id="19" name="Text 17"/>
          <p:cNvSpPr/>
          <p:nvPr/>
        </p:nvSpPr>
        <p:spPr>
          <a:xfrm>
            <a:off x="5212080" y="5138928"/>
            <a:ext cx="2103120" cy="594360"/>
          </a:xfrm>
          <a:prstGeom prst="rect">
            <a:avLst/>
          </a:prstGeom>
          <a:noFill/>
          <a:ln/>
        </p:spPr>
        <p:txBody>
          <a:bodyPr wrap="square" rtlCol="0" anchor="ctr"/>
          <a:lstStyle/>
          <a:p>
            <a:pPr algn="ctr" indent="0" marL="0">
              <a:buNone/>
            </a:pPr>
            <a:r>
              <a:rPr lang="en-US" sz="2600" b="1" dirty="0">
                <a:solidFill>
                  <a:srgbClr val="2E9BB8"/>
                </a:solidFill>
                <a:latin typeface="Cambria" pitchFamily="34" charset="0"/>
                <a:ea typeface="Cambria" pitchFamily="34" charset="-122"/>
                <a:cs typeface="Cambria" pitchFamily="34" charset="-120"/>
              </a:rPr>
              <a:t>18–40</a:t>
            </a:r>
            <a:endParaRPr lang="en-US" sz="2600" dirty="0"/>
          </a:p>
        </p:txBody>
      </p:sp>
      <p:sp>
        <p:nvSpPr>
          <p:cNvPr id="20" name="Text 18"/>
          <p:cNvSpPr/>
          <p:nvPr/>
        </p:nvSpPr>
        <p:spPr>
          <a:xfrm>
            <a:off x="5212080" y="5715000"/>
            <a:ext cx="2103120" cy="365760"/>
          </a:xfrm>
          <a:prstGeom prst="rect">
            <a:avLst/>
          </a:prstGeom>
          <a:noFill/>
          <a:ln/>
        </p:spPr>
        <p:txBody>
          <a:bodyPr wrap="square" rtlCol="0" anchor="ctr"/>
          <a:lstStyle/>
          <a:p>
            <a:pPr algn="ctr" indent="0" marL="0">
              <a:buNone/>
            </a:pPr>
            <a:r>
              <a:rPr lang="en-US" sz="1100" dirty="0">
                <a:solidFill>
                  <a:srgbClr val="CFE3EC"/>
                </a:solidFill>
                <a:latin typeface="Calibri" pitchFamily="34" charset="0"/>
                <a:ea typeface="Calibri" pitchFamily="34" charset="-122"/>
                <a:cs typeface="Calibri" pitchFamily="34" charset="-120"/>
              </a:rPr>
              <a:t>Core Age Range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000" b="1" dirty="0">
                <a:solidFill>
                  <a:srgbClr val="0A3D5C"/>
                </a:solidFill>
                <a:latin typeface="Cambria" pitchFamily="34" charset="0"/>
                <a:ea typeface="Cambria" pitchFamily="34" charset="-122"/>
                <a:cs typeface="Cambria" pitchFamily="34" charset="-120"/>
              </a:rPr>
              <a:t>Our Three Projects</a:t>
            </a:r>
            <a:endParaRPr lang="en-US" sz="3000" dirty="0"/>
          </a:p>
        </p:txBody>
      </p:sp>
      <p:sp>
        <p:nvSpPr>
          <p:cNvPr id="3" name="Text 1"/>
          <p:cNvSpPr/>
          <p:nvPr/>
        </p:nvSpPr>
        <p:spPr>
          <a:xfrm>
            <a:off x="548640" y="1005840"/>
            <a:ext cx="8229600" cy="365760"/>
          </a:xfrm>
          <a:prstGeom prst="rect">
            <a:avLst/>
          </a:prstGeom>
          <a:noFill/>
          <a:ln/>
        </p:spPr>
        <p:txBody>
          <a:bodyPr wrap="square" rtlCol="0" anchor="ctr"/>
          <a:lstStyle/>
          <a:p>
            <a:pPr indent="0" marL="0">
              <a:buNone/>
            </a:pPr>
            <a:r>
              <a:rPr lang="en-US" sz="1350" i="1" dirty="0">
                <a:solidFill>
                  <a:srgbClr val="5B6B76"/>
                </a:solidFill>
                <a:latin typeface="Calibri" pitchFamily="34" charset="0"/>
                <a:ea typeface="Calibri" pitchFamily="34" charset="-122"/>
                <a:cs typeface="Calibri" pitchFamily="34" charset="-120"/>
              </a:rPr>
              <a:t>An overview of what the Islamabad hub is running this cycle</a:t>
            </a:r>
            <a:endParaRPr lang="en-US" sz="1350" dirty="0"/>
          </a:p>
        </p:txBody>
      </p:sp>
      <p:sp>
        <p:nvSpPr>
          <p:cNvPr id="4" name="Shape 2"/>
          <p:cNvSpPr/>
          <p:nvPr/>
        </p:nvSpPr>
        <p:spPr>
          <a:xfrm>
            <a:off x="548640" y="1737360"/>
            <a:ext cx="3474720" cy="4206240"/>
          </a:xfrm>
          <a:prstGeom prst="roundRect">
            <a:avLst>
              <a:gd name="adj" fmla="val 3158"/>
            </a:avLst>
          </a:prstGeom>
          <a:solidFill>
            <a:srgbClr val="F3F7F9"/>
          </a:solidFill>
          <a:ln/>
          <a:effectLst>
            <a:outerShdw sx="100000" sy="100000" kx="0" ky="0" algn="bl" rotWithShape="0" blurRad="101600" dist="38100" dir="5400000">
              <a:srgbClr val="AAB4BC">
                <a:alpha val="25000"/>
              </a:srgbClr>
            </a:outerShdw>
          </a:effectLst>
        </p:spPr>
      </p:sp>
      <p:sp>
        <p:nvSpPr>
          <p:cNvPr id="5" name="Shape 3"/>
          <p:cNvSpPr/>
          <p:nvPr/>
        </p:nvSpPr>
        <p:spPr>
          <a:xfrm>
            <a:off x="822960" y="2011680"/>
            <a:ext cx="640080" cy="640080"/>
          </a:xfrm>
          <a:prstGeom prst="roundRect">
            <a:avLst>
              <a:gd name="adj" fmla="val 50000"/>
            </a:avLst>
          </a:prstGeom>
          <a:solidFill>
            <a:srgbClr val="2E9BB8"/>
          </a:solidFill>
          <a:ln/>
        </p:spPr>
      </p:sp>
      <p:sp>
        <p:nvSpPr>
          <p:cNvPr id="6" name="Text 4"/>
          <p:cNvSpPr/>
          <p:nvPr/>
        </p:nvSpPr>
        <p:spPr>
          <a:xfrm>
            <a:off x="822960" y="201168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822960" y="2788920"/>
            <a:ext cx="2926080" cy="502920"/>
          </a:xfrm>
          <a:prstGeom prst="rect">
            <a:avLst/>
          </a:prstGeom>
          <a:noFill/>
          <a:ln/>
        </p:spPr>
        <p:txBody>
          <a:bodyPr wrap="square" rtlCol="0" anchor="ctr"/>
          <a:lstStyle/>
          <a:p>
            <a:pPr indent="0" marL="0">
              <a:buNone/>
            </a:pPr>
            <a:r>
              <a:rPr lang="en-US" sz="2200" b="1" dirty="0">
                <a:solidFill>
                  <a:srgbClr val="0A3D5C"/>
                </a:solidFill>
                <a:latin typeface="Cambria" pitchFamily="34" charset="0"/>
                <a:ea typeface="Cambria" pitchFamily="34" charset="-122"/>
                <a:cs typeface="Cambria" pitchFamily="34" charset="-120"/>
              </a:rPr>
              <a:t>Zubaan</a:t>
            </a:r>
            <a:endParaRPr lang="en-US" sz="2200" dirty="0"/>
          </a:p>
        </p:txBody>
      </p:sp>
      <p:sp>
        <p:nvSpPr>
          <p:cNvPr id="8" name="Text 6"/>
          <p:cNvSpPr/>
          <p:nvPr/>
        </p:nvSpPr>
        <p:spPr>
          <a:xfrm>
            <a:off x="822960" y="3246120"/>
            <a:ext cx="2926080" cy="274320"/>
          </a:xfrm>
          <a:prstGeom prst="rect">
            <a:avLst/>
          </a:prstGeom>
          <a:noFill/>
          <a:ln/>
        </p:spPr>
        <p:txBody>
          <a:bodyPr wrap="square" rtlCol="0" anchor="ctr"/>
          <a:lstStyle/>
          <a:p>
            <a:pPr indent="0" marL="0">
              <a:buNone/>
            </a:pPr>
            <a:r>
              <a:rPr lang="en-US" sz="1050" i="1" dirty="0">
                <a:solidFill>
                  <a:srgbClr val="5B6B76"/>
                </a:solidFill>
                <a:latin typeface="Calibri" pitchFamily="34" charset="0"/>
                <a:ea typeface="Calibri" pitchFamily="34" charset="-122"/>
                <a:cs typeface="Calibri" pitchFamily="34" charset="-120"/>
              </a:rPr>
              <a:t>formerly “Caravan”</a:t>
            </a:r>
            <a:endParaRPr lang="en-US" sz="1050" dirty="0"/>
          </a:p>
        </p:txBody>
      </p:sp>
      <p:sp>
        <p:nvSpPr>
          <p:cNvPr id="9" name="Text 7"/>
          <p:cNvSpPr/>
          <p:nvPr/>
        </p:nvSpPr>
        <p:spPr>
          <a:xfrm>
            <a:off x="822960" y="3566160"/>
            <a:ext cx="2926080" cy="274320"/>
          </a:xfrm>
          <a:prstGeom prst="rect">
            <a:avLst/>
          </a:prstGeom>
          <a:noFill/>
          <a:ln/>
        </p:spPr>
        <p:txBody>
          <a:bodyPr wrap="square" rtlCol="0" anchor="ctr"/>
          <a:lstStyle/>
          <a:p>
            <a:pPr indent="0" marL="0">
              <a:buNone/>
            </a:pPr>
            <a:r>
              <a:rPr lang="en-US" sz="1100" b="1" dirty="0">
                <a:solidFill>
                  <a:srgbClr val="2E9BB8"/>
                </a:solidFill>
                <a:latin typeface="Calibri" pitchFamily="34" charset="0"/>
                <a:ea typeface="Calibri" pitchFamily="34" charset="-122"/>
                <a:cs typeface="Calibri" pitchFamily="34" charset="-120"/>
              </a:rPr>
              <a:t>MID-AUGUST</a:t>
            </a:r>
            <a:endParaRPr lang="en-US" sz="1100" dirty="0"/>
          </a:p>
        </p:txBody>
      </p:sp>
      <p:sp>
        <p:nvSpPr>
          <p:cNvPr id="10" name="Text 8"/>
          <p:cNvSpPr/>
          <p:nvPr/>
        </p:nvSpPr>
        <p:spPr>
          <a:xfrm>
            <a:off x="822960" y="3931920"/>
            <a:ext cx="2926080" cy="1737360"/>
          </a:xfrm>
          <a:prstGeom prst="rect">
            <a:avLst/>
          </a:prstGeom>
          <a:noFill/>
          <a:ln/>
        </p:spPr>
        <p:txBody>
          <a:bodyPr wrap="square" rtlCol="0" anchor="ctr"/>
          <a:lstStyle/>
          <a:p>
            <a:pPr indent="0" marL="0">
              <a:lnSpc>
                <a:spcPct val="125000"/>
              </a:lnSpc>
              <a:buNone/>
            </a:pPr>
            <a:r>
              <a:rPr lang="en-US" sz="1300" dirty="0">
                <a:solidFill>
                  <a:srgbClr val="17242D"/>
                </a:solidFill>
                <a:latin typeface="Calibri" pitchFamily="34" charset="0"/>
                <a:ea typeface="Calibri" pitchFamily="34" charset="-122"/>
                <a:cs typeface="Calibri" pitchFamily="34" charset="-120"/>
              </a:rPr>
              <a:t>An online language club — small group conversations that build cross-border cultural connections.</a:t>
            </a:r>
            <a:endParaRPr lang="en-US" sz="1300" dirty="0"/>
          </a:p>
        </p:txBody>
      </p:sp>
      <p:sp>
        <p:nvSpPr>
          <p:cNvPr id="11" name="Shape 9"/>
          <p:cNvSpPr/>
          <p:nvPr/>
        </p:nvSpPr>
        <p:spPr>
          <a:xfrm>
            <a:off x="4297680" y="1737360"/>
            <a:ext cx="3474720" cy="4206240"/>
          </a:xfrm>
          <a:prstGeom prst="roundRect">
            <a:avLst>
              <a:gd name="adj" fmla="val 3158"/>
            </a:avLst>
          </a:prstGeom>
          <a:solidFill>
            <a:srgbClr val="F3F7F9"/>
          </a:solidFill>
          <a:ln/>
          <a:effectLst>
            <a:outerShdw sx="100000" sy="100000" kx="0" ky="0" algn="bl" rotWithShape="0" blurRad="101600" dist="38100" dir="5400000">
              <a:srgbClr val="AAB4BC">
                <a:alpha val="25000"/>
              </a:srgbClr>
            </a:outerShdw>
          </a:effectLst>
        </p:spPr>
      </p:sp>
      <p:sp>
        <p:nvSpPr>
          <p:cNvPr id="12" name="Shape 10"/>
          <p:cNvSpPr/>
          <p:nvPr/>
        </p:nvSpPr>
        <p:spPr>
          <a:xfrm>
            <a:off x="4572000" y="2011680"/>
            <a:ext cx="640080" cy="640080"/>
          </a:xfrm>
          <a:prstGeom prst="roundRect">
            <a:avLst>
              <a:gd name="adj" fmla="val 50000"/>
            </a:avLst>
          </a:prstGeom>
          <a:solidFill>
            <a:srgbClr val="0A3D5C"/>
          </a:solidFill>
          <a:ln/>
        </p:spPr>
      </p:sp>
      <p:sp>
        <p:nvSpPr>
          <p:cNvPr id="13" name="Text 11"/>
          <p:cNvSpPr/>
          <p:nvPr/>
        </p:nvSpPr>
        <p:spPr>
          <a:xfrm>
            <a:off x="4572000" y="201168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4572000" y="2788920"/>
            <a:ext cx="2926080" cy="502920"/>
          </a:xfrm>
          <a:prstGeom prst="rect">
            <a:avLst/>
          </a:prstGeom>
          <a:noFill/>
          <a:ln/>
        </p:spPr>
        <p:txBody>
          <a:bodyPr wrap="square" rtlCol="0" anchor="ctr"/>
          <a:lstStyle/>
          <a:p>
            <a:pPr indent="0" marL="0">
              <a:buNone/>
            </a:pPr>
            <a:r>
              <a:rPr lang="en-US" sz="2200" b="1" dirty="0">
                <a:solidFill>
                  <a:srgbClr val="0A3D5C"/>
                </a:solidFill>
                <a:latin typeface="Cambria" pitchFamily="34" charset="0"/>
                <a:ea typeface="Cambria" pitchFamily="34" charset="-122"/>
                <a:cs typeface="Cambria" pitchFamily="34" charset="-120"/>
              </a:rPr>
              <a:t>Chirag</a:t>
            </a:r>
            <a:endParaRPr lang="en-US" sz="2200" dirty="0"/>
          </a:p>
        </p:txBody>
      </p:sp>
      <p:sp>
        <p:nvSpPr>
          <p:cNvPr id="15" name="Text 13"/>
          <p:cNvSpPr/>
          <p:nvPr/>
        </p:nvSpPr>
        <p:spPr>
          <a:xfrm>
            <a:off x="4572000" y="3291840"/>
            <a:ext cx="2926080" cy="274320"/>
          </a:xfrm>
          <a:prstGeom prst="rect">
            <a:avLst/>
          </a:prstGeom>
          <a:noFill/>
          <a:ln/>
        </p:spPr>
        <p:txBody>
          <a:bodyPr wrap="square" rtlCol="0" anchor="ctr"/>
          <a:lstStyle/>
          <a:p>
            <a:pPr indent="0" marL="0">
              <a:buNone/>
            </a:pPr>
            <a:r>
              <a:rPr lang="en-US" sz="1100" b="1" dirty="0">
                <a:solidFill>
                  <a:srgbClr val="0A3D5C"/>
                </a:solidFill>
                <a:latin typeface="Calibri" pitchFamily="34" charset="0"/>
                <a:ea typeface="Calibri" pitchFamily="34" charset="-122"/>
                <a:cs typeface="Calibri" pitchFamily="34" charset="-120"/>
              </a:rPr>
              <a:t>END OF JULY</a:t>
            </a:r>
            <a:endParaRPr lang="en-US" sz="1100" dirty="0"/>
          </a:p>
        </p:txBody>
      </p:sp>
      <p:sp>
        <p:nvSpPr>
          <p:cNvPr id="16" name="Text 14"/>
          <p:cNvSpPr/>
          <p:nvPr/>
        </p:nvSpPr>
        <p:spPr>
          <a:xfrm>
            <a:off x="4572000" y="3657600"/>
            <a:ext cx="2926080" cy="1737360"/>
          </a:xfrm>
          <a:prstGeom prst="rect">
            <a:avLst/>
          </a:prstGeom>
          <a:noFill/>
          <a:ln/>
        </p:spPr>
        <p:txBody>
          <a:bodyPr wrap="square" rtlCol="0" anchor="ctr"/>
          <a:lstStyle/>
          <a:p>
            <a:pPr indent="0" marL="0">
              <a:lnSpc>
                <a:spcPct val="125000"/>
              </a:lnSpc>
              <a:buNone/>
            </a:pPr>
            <a:r>
              <a:rPr lang="en-US" sz="1300" dirty="0">
                <a:solidFill>
                  <a:srgbClr val="17242D"/>
                </a:solidFill>
                <a:latin typeface="Calibri" pitchFamily="34" charset="0"/>
                <a:ea typeface="Calibri" pitchFamily="34" charset="-122"/>
                <a:cs typeface="Calibri" pitchFamily="34" charset="-120"/>
              </a:rPr>
              <a:t>Practical-skills workshops for underprivileged school students, run by SCOLAR volunteers.</a:t>
            </a:r>
            <a:endParaRPr lang="en-US" sz="1300" dirty="0"/>
          </a:p>
        </p:txBody>
      </p:sp>
      <p:sp>
        <p:nvSpPr>
          <p:cNvPr id="17" name="Shape 15"/>
          <p:cNvSpPr/>
          <p:nvPr/>
        </p:nvSpPr>
        <p:spPr>
          <a:xfrm>
            <a:off x="8046720" y="1737360"/>
            <a:ext cx="3474720" cy="4206240"/>
          </a:xfrm>
          <a:prstGeom prst="roundRect">
            <a:avLst>
              <a:gd name="adj" fmla="val 3158"/>
            </a:avLst>
          </a:prstGeom>
          <a:solidFill>
            <a:srgbClr val="F3F7F9"/>
          </a:solidFill>
          <a:ln/>
          <a:effectLst>
            <a:outerShdw sx="100000" sy="100000" kx="0" ky="0" algn="bl" rotWithShape="0" blurRad="101600" dist="38100" dir="5400000">
              <a:srgbClr val="AAB4BC">
                <a:alpha val="25000"/>
              </a:srgbClr>
            </a:outerShdw>
          </a:effectLst>
        </p:spPr>
      </p:sp>
      <p:sp>
        <p:nvSpPr>
          <p:cNvPr id="18" name="Shape 16"/>
          <p:cNvSpPr/>
          <p:nvPr/>
        </p:nvSpPr>
        <p:spPr>
          <a:xfrm>
            <a:off x="8321040" y="2011680"/>
            <a:ext cx="640080" cy="640080"/>
          </a:xfrm>
          <a:prstGeom prst="roundRect">
            <a:avLst>
              <a:gd name="adj" fmla="val 50000"/>
            </a:avLst>
          </a:prstGeom>
          <a:solidFill>
            <a:srgbClr val="01411C"/>
          </a:solidFill>
          <a:ln/>
        </p:spPr>
      </p:sp>
      <p:sp>
        <p:nvSpPr>
          <p:cNvPr id="19" name="Text 17"/>
          <p:cNvSpPr/>
          <p:nvPr/>
        </p:nvSpPr>
        <p:spPr>
          <a:xfrm>
            <a:off x="8321040" y="201168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8321040" y="2788920"/>
            <a:ext cx="2926080" cy="502920"/>
          </a:xfrm>
          <a:prstGeom prst="rect">
            <a:avLst/>
          </a:prstGeom>
          <a:noFill/>
          <a:ln/>
        </p:spPr>
        <p:txBody>
          <a:bodyPr wrap="square" rtlCol="0" anchor="ctr"/>
          <a:lstStyle/>
          <a:p>
            <a:pPr indent="0" marL="0">
              <a:buNone/>
            </a:pPr>
            <a:r>
              <a:rPr lang="en-US" sz="2200" b="1" dirty="0">
                <a:solidFill>
                  <a:srgbClr val="0A3D5C"/>
                </a:solidFill>
                <a:latin typeface="Cambria" pitchFamily="34" charset="0"/>
                <a:ea typeface="Cambria" pitchFamily="34" charset="-122"/>
                <a:cs typeface="Cambria" pitchFamily="34" charset="-120"/>
              </a:rPr>
              <a:t>Mil Baithak</a:t>
            </a:r>
            <a:endParaRPr lang="en-US" sz="2200" dirty="0"/>
          </a:p>
        </p:txBody>
      </p:sp>
      <p:sp>
        <p:nvSpPr>
          <p:cNvPr id="21" name="Text 19"/>
          <p:cNvSpPr/>
          <p:nvPr/>
        </p:nvSpPr>
        <p:spPr>
          <a:xfrm>
            <a:off x="8321040" y="3291840"/>
            <a:ext cx="2926080" cy="274320"/>
          </a:xfrm>
          <a:prstGeom prst="rect">
            <a:avLst/>
          </a:prstGeom>
          <a:noFill/>
          <a:ln/>
        </p:spPr>
        <p:txBody>
          <a:bodyPr wrap="square" rtlCol="0" anchor="ctr"/>
          <a:lstStyle/>
          <a:p>
            <a:pPr indent="0" marL="0">
              <a:buNone/>
            </a:pPr>
            <a:r>
              <a:rPr lang="en-US" sz="1100" b="1" dirty="0">
                <a:solidFill>
                  <a:srgbClr val="01411C"/>
                </a:solidFill>
                <a:latin typeface="Calibri" pitchFamily="34" charset="0"/>
                <a:ea typeface="Calibri" pitchFamily="34" charset="-122"/>
                <a:cs typeface="Calibri" pitchFamily="34" charset="-120"/>
              </a:rPr>
              <a:t>MID-SEPTEMBER</a:t>
            </a:r>
            <a:endParaRPr lang="en-US" sz="1100" dirty="0"/>
          </a:p>
        </p:txBody>
      </p:sp>
      <p:sp>
        <p:nvSpPr>
          <p:cNvPr id="22" name="Text 20"/>
          <p:cNvSpPr/>
          <p:nvPr/>
        </p:nvSpPr>
        <p:spPr>
          <a:xfrm>
            <a:off x="8321040" y="3657600"/>
            <a:ext cx="2926080" cy="1737360"/>
          </a:xfrm>
          <a:prstGeom prst="rect">
            <a:avLst/>
          </a:prstGeom>
          <a:noFill/>
          <a:ln/>
        </p:spPr>
        <p:txBody>
          <a:bodyPr wrap="square" rtlCol="0" anchor="ctr"/>
          <a:lstStyle/>
          <a:p>
            <a:pPr indent="0" marL="0">
              <a:lnSpc>
                <a:spcPct val="125000"/>
              </a:lnSpc>
              <a:buNone/>
            </a:pPr>
            <a:r>
              <a:rPr lang="en-US" sz="1300" dirty="0">
                <a:solidFill>
                  <a:srgbClr val="17242D"/>
                </a:solidFill>
                <a:latin typeface="Calibri" pitchFamily="34" charset="0"/>
                <a:ea typeface="Calibri" pitchFamily="34" charset="-122"/>
                <a:cs typeface="Calibri" pitchFamily="34" charset="-120"/>
              </a:rPr>
              <a:t>Round-table discussions on policy and international relations with academics and diplomats.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17320"/>
          </a:xfrm>
          <a:prstGeom prst="rect">
            <a:avLst/>
          </a:prstGeom>
          <a:solidFill>
            <a:srgbClr val="2E9BB8"/>
          </a:solidFill>
          <a:ln/>
        </p:spPr>
      </p:sp>
      <p:sp>
        <p:nvSpPr>
          <p:cNvPr id="3" name="Text 1"/>
          <p:cNvSpPr/>
          <p:nvPr/>
        </p:nvSpPr>
        <p:spPr>
          <a:xfrm>
            <a:off x="548640" y="201168"/>
            <a:ext cx="5486400" cy="32004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PROJECT 1  —  FORMERLY “CARAVAN”</a:t>
            </a:r>
            <a:endParaRPr lang="en-US" sz="1200" dirty="0"/>
          </a:p>
        </p:txBody>
      </p:sp>
      <p:sp>
        <p:nvSpPr>
          <p:cNvPr id="4" name="Text 2"/>
          <p:cNvSpPr/>
          <p:nvPr/>
        </p:nvSpPr>
        <p:spPr>
          <a:xfrm>
            <a:off x="548640" y="457200"/>
            <a:ext cx="73152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Zubaan</a:t>
            </a:r>
            <a:endParaRPr lang="en-US" sz="3200" dirty="0"/>
          </a:p>
        </p:txBody>
      </p:sp>
      <p:sp>
        <p:nvSpPr>
          <p:cNvPr id="5" name="Text 3"/>
          <p:cNvSpPr/>
          <p:nvPr/>
        </p:nvSpPr>
        <p:spPr>
          <a:xfrm>
            <a:off x="548640" y="1051560"/>
            <a:ext cx="7315200" cy="2743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A safe space to talk — in the language you're learning</a:t>
            </a:r>
            <a:endParaRPr lang="en-US" sz="1200" dirty="0"/>
          </a:p>
        </p:txBody>
      </p:sp>
      <p:sp>
        <p:nvSpPr>
          <p:cNvPr id="6" name="Shape 4"/>
          <p:cNvSpPr/>
          <p:nvPr/>
        </p:nvSpPr>
        <p:spPr>
          <a:xfrm>
            <a:off x="9692640" y="365760"/>
            <a:ext cx="1965960" cy="685800"/>
          </a:xfrm>
          <a:prstGeom prst="roundRect">
            <a:avLst>
              <a:gd name="adj" fmla="val 10667"/>
            </a:avLst>
          </a:prstGeom>
          <a:solidFill>
            <a:srgbClr val="FFFFFF">
              <a:alpha val="88000"/>
            </a:srgbClr>
          </a:solidFill>
          <a:ln/>
        </p:spPr>
      </p:sp>
      <p:sp>
        <p:nvSpPr>
          <p:cNvPr id="7" name="Text 5"/>
          <p:cNvSpPr/>
          <p:nvPr/>
        </p:nvSpPr>
        <p:spPr>
          <a:xfrm>
            <a:off x="9692640" y="365760"/>
            <a:ext cx="1965960" cy="685800"/>
          </a:xfrm>
          <a:prstGeom prst="rect">
            <a:avLst/>
          </a:prstGeom>
          <a:noFill/>
          <a:ln/>
        </p:spPr>
        <p:txBody>
          <a:bodyPr wrap="square" rtlCol="0" anchor="ctr"/>
          <a:lstStyle/>
          <a:p>
            <a:pPr algn="ctr" indent="0" marL="0">
              <a:buNone/>
            </a:pPr>
            <a:r>
              <a:rPr lang="en-US" sz="1300" b="1" dirty="0">
                <a:solidFill>
                  <a:srgbClr val="2E9BB8"/>
                </a:solidFill>
                <a:latin typeface="Calibri" pitchFamily="34" charset="0"/>
                <a:ea typeface="Calibri" pitchFamily="34" charset="-122"/>
                <a:cs typeface="Calibri" pitchFamily="34" charset="-120"/>
              </a:rPr>
              <a:t>Mid-August</a:t>
            </a:r>
            <a:endParaRPr lang="en-US" sz="1300" dirty="0"/>
          </a:p>
        </p:txBody>
      </p:sp>
      <p:sp>
        <p:nvSpPr>
          <p:cNvPr id="8" name="Text 6"/>
          <p:cNvSpPr/>
          <p:nvPr/>
        </p:nvSpPr>
        <p:spPr>
          <a:xfrm>
            <a:off x="548640" y="1691640"/>
            <a:ext cx="585216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WHAT IT IS</a:t>
            </a:r>
            <a:endParaRPr lang="en-US" sz="1150" dirty="0"/>
          </a:p>
        </p:txBody>
      </p:sp>
      <p:sp>
        <p:nvSpPr>
          <p:cNvPr id="9" name="Text 7"/>
          <p:cNvSpPr/>
          <p:nvPr/>
        </p:nvSpPr>
        <p:spPr>
          <a:xfrm>
            <a:off x="548640" y="1965960"/>
            <a:ext cx="5852160" cy="1234440"/>
          </a:xfrm>
          <a:prstGeom prst="rect">
            <a:avLst/>
          </a:prstGeom>
          <a:noFill/>
          <a:ln/>
        </p:spPr>
        <p:txBody>
          <a:bodyPr wrap="square" rtlCol="0" anchor="ctr"/>
          <a:lstStyle/>
          <a:p>
            <a:pPr indent="0" marL="0">
              <a:lnSpc>
                <a:spcPct val="125000"/>
              </a:lnSpc>
              <a:buNone/>
            </a:pPr>
            <a:r>
              <a:rPr lang="en-US" sz="1350" dirty="0">
                <a:solidFill>
                  <a:srgbClr val="17242D"/>
                </a:solidFill>
                <a:latin typeface="Calibri" pitchFamily="34" charset="0"/>
                <a:ea typeface="Calibri" pitchFamily="34" charset="-122"/>
                <a:cs typeface="Calibri" pitchFamily="34" charset="-120"/>
              </a:rPr>
              <a:t>An online language club. Small conversation circles that help people practice SCO-region languages, and build people-to-people cultural connections and cross-border friendships.</a:t>
            </a:r>
            <a:endParaRPr lang="en-US" sz="1350" dirty="0"/>
          </a:p>
        </p:txBody>
      </p:sp>
      <p:sp>
        <p:nvSpPr>
          <p:cNvPr id="10" name="Text 8"/>
          <p:cNvSpPr/>
          <p:nvPr/>
        </p:nvSpPr>
        <p:spPr>
          <a:xfrm>
            <a:off x="548640" y="3291840"/>
            <a:ext cx="585216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HOW IT RUNS</a:t>
            </a:r>
            <a:endParaRPr lang="en-US" sz="1150" dirty="0"/>
          </a:p>
        </p:txBody>
      </p:sp>
      <p:sp>
        <p:nvSpPr>
          <p:cNvPr id="11" name="Text 9"/>
          <p:cNvSpPr/>
          <p:nvPr/>
        </p:nvSpPr>
        <p:spPr>
          <a:xfrm>
            <a:off x="548640" y="3566160"/>
            <a:ext cx="5852160" cy="1371600"/>
          </a:xfrm>
          <a:prstGeom prst="rect">
            <a:avLst/>
          </a:prstGeom>
          <a:noFill/>
          <a:ln/>
        </p:spPr>
        <p:txBody>
          <a:bodyPr wrap="square" rtlCol="0" anchor="ctr"/>
          <a:lstStyle/>
          <a:p>
            <a:pPr indent="0" marL="0">
              <a:lnSpc>
                <a:spcPct val="125000"/>
              </a:lnSpc>
              <a:buNone/>
            </a:pPr>
            <a:r>
              <a:rPr lang="en-US" sz="1350" dirty="0">
                <a:solidFill>
                  <a:srgbClr val="17242D"/>
                </a:solidFill>
                <a:latin typeface="Calibri" pitchFamily="34" charset="0"/>
                <a:ea typeface="Calibri" pitchFamily="34" charset="-122"/>
                <a:cs typeface="Calibri" pitchFamily="34" charset="-120"/>
              </a:rPr>
              <a:t>Starts fully online, with a plan to move to in-person meetups over time. Native speakers, language enthusiasts, cultural ambassadors, and volunteer moderators guide small-group discussions with structured facilitation guides.</a:t>
            </a:r>
            <a:endParaRPr lang="en-US" sz="1350" dirty="0"/>
          </a:p>
        </p:txBody>
      </p:sp>
      <p:sp>
        <p:nvSpPr>
          <p:cNvPr id="12" name="Shape 10"/>
          <p:cNvSpPr/>
          <p:nvPr/>
        </p:nvSpPr>
        <p:spPr>
          <a:xfrm>
            <a:off x="6720840" y="1691640"/>
            <a:ext cx="4937760" cy="1691640"/>
          </a:xfrm>
          <a:prstGeom prst="roundRect">
            <a:avLst>
              <a:gd name="adj" fmla="val 5405"/>
            </a:avLst>
          </a:prstGeom>
          <a:solidFill>
            <a:srgbClr val="F3F7F9"/>
          </a:solidFill>
          <a:ln/>
        </p:spPr>
      </p:sp>
      <p:sp>
        <p:nvSpPr>
          <p:cNvPr id="13" name="Text 11"/>
          <p:cNvSpPr/>
          <p:nvPr/>
        </p:nvSpPr>
        <p:spPr>
          <a:xfrm>
            <a:off x="6949440" y="1828800"/>
            <a:ext cx="457200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WHO JOINS</a:t>
            </a:r>
            <a:endParaRPr lang="en-US" sz="1150" dirty="0"/>
          </a:p>
        </p:txBody>
      </p:sp>
      <p:sp>
        <p:nvSpPr>
          <p:cNvPr id="14" name="Text 12"/>
          <p:cNvSpPr/>
          <p:nvPr/>
        </p:nvSpPr>
        <p:spPr>
          <a:xfrm>
            <a:off x="6949440" y="2103120"/>
            <a:ext cx="4480560" cy="1188720"/>
          </a:xfrm>
          <a:prstGeom prst="rect">
            <a:avLst/>
          </a:prstGeom>
          <a:noFill/>
          <a:ln/>
        </p:spPr>
        <p:txBody>
          <a:bodyPr wrap="square" rtlCol="0" anchor="ctr"/>
          <a:lstStyle/>
          <a:p>
            <a:pPr indent="0" marL="0">
              <a:lnSpc>
                <a:spcPct val="120000"/>
              </a:lnSpc>
              <a:buNone/>
            </a:pPr>
            <a:r>
              <a:rPr lang="en-US" sz="1250" dirty="0">
                <a:solidFill>
                  <a:srgbClr val="17242D"/>
                </a:solidFill>
                <a:latin typeface="Calibri" pitchFamily="34" charset="0"/>
                <a:ea typeface="Calibri" pitchFamily="34" charset="-122"/>
                <a:cs typeface="Calibri" pitchFamily="34" charset="-120"/>
              </a:rPr>
              <a:t>University students, language learners, native speakers, cultural ambassadors, and young professionals, ages 18–40.</a:t>
            </a:r>
            <a:endParaRPr lang="en-US" sz="1250" dirty="0"/>
          </a:p>
        </p:txBody>
      </p:sp>
      <p:sp>
        <p:nvSpPr>
          <p:cNvPr id="15" name="Shape 13"/>
          <p:cNvSpPr/>
          <p:nvPr/>
        </p:nvSpPr>
        <p:spPr>
          <a:xfrm>
            <a:off x="6720840" y="3520440"/>
            <a:ext cx="4937760" cy="1417320"/>
          </a:xfrm>
          <a:prstGeom prst="roundRect">
            <a:avLst>
              <a:gd name="adj" fmla="val 6452"/>
            </a:avLst>
          </a:prstGeom>
          <a:solidFill>
            <a:srgbClr val="F3F7F9"/>
          </a:solidFill>
          <a:ln/>
        </p:spPr>
      </p:sp>
      <p:sp>
        <p:nvSpPr>
          <p:cNvPr id="16" name="Text 14"/>
          <p:cNvSpPr/>
          <p:nvPr/>
        </p:nvSpPr>
        <p:spPr>
          <a:xfrm>
            <a:off x="6949440" y="3657600"/>
            <a:ext cx="457200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PROMOTION CHANNELS</a:t>
            </a:r>
            <a:endParaRPr lang="en-US" sz="1150" dirty="0"/>
          </a:p>
        </p:txBody>
      </p:sp>
      <p:sp>
        <p:nvSpPr>
          <p:cNvPr id="17" name="Text 15"/>
          <p:cNvSpPr/>
          <p:nvPr/>
        </p:nvSpPr>
        <p:spPr>
          <a:xfrm>
            <a:off x="6949440" y="3931920"/>
            <a:ext cx="4480560" cy="914400"/>
          </a:xfrm>
          <a:prstGeom prst="rect">
            <a:avLst/>
          </a:prstGeom>
          <a:noFill/>
          <a:ln/>
        </p:spPr>
        <p:txBody>
          <a:bodyPr wrap="square" rtlCol="0" anchor="ctr"/>
          <a:lstStyle/>
          <a:p>
            <a:pPr indent="0" marL="0">
              <a:lnSpc>
                <a:spcPct val="115000"/>
              </a:lnSpc>
              <a:buNone/>
            </a:pPr>
            <a:r>
              <a:rPr lang="en-US" sz="1200" dirty="0">
                <a:solidFill>
                  <a:srgbClr val="17242D"/>
                </a:solidFill>
                <a:latin typeface="Calibri" pitchFamily="34" charset="0"/>
                <a:ea typeface="Calibri" pitchFamily="34" charset="-122"/>
                <a:cs typeface="Calibri" pitchFamily="34" charset="-120"/>
              </a:rPr>
              <a:t>Instagram, LinkedIn, SCOLAR Network website, WhatsApp groups, partner organizations, word of mouth, email invitations.</a:t>
            </a:r>
            <a:endParaRPr lang="en-US" sz="1200" dirty="0"/>
          </a:p>
        </p:txBody>
      </p:sp>
      <p:sp>
        <p:nvSpPr>
          <p:cNvPr id="18" name="Shape 16"/>
          <p:cNvSpPr/>
          <p:nvPr/>
        </p:nvSpPr>
        <p:spPr>
          <a:xfrm>
            <a:off x="0" y="5257800"/>
            <a:ext cx="12188952" cy="1600200"/>
          </a:xfrm>
          <a:prstGeom prst="rect">
            <a:avLst/>
          </a:prstGeom>
          <a:solidFill>
            <a:srgbClr val="0A3D5C"/>
          </a:solidFill>
          <a:ln/>
        </p:spPr>
      </p:sp>
      <p:sp>
        <p:nvSpPr>
          <p:cNvPr id="19" name="Text 17"/>
          <p:cNvSpPr/>
          <p:nvPr/>
        </p:nvSpPr>
        <p:spPr>
          <a:xfrm>
            <a:off x="548640" y="5413248"/>
            <a:ext cx="365760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EXPECTED RESULTS</a:t>
            </a:r>
            <a:endParaRPr lang="en-US" sz="1150" dirty="0"/>
          </a:p>
        </p:txBody>
      </p:sp>
      <p:sp>
        <p:nvSpPr>
          <p:cNvPr id="20" name="Text 18"/>
          <p:cNvSpPr/>
          <p:nvPr/>
        </p:nvSpPr>
        <p:spPr>
          <a:xfrm>
            <a:off x="548640" y="5687568"/>
            <a:ext cx="11064240" cy="1097280"/>
          </a:xfrm>
          <a:prstGeom prst="rect">
            <a:avLst/>
          </a:prstGeom>
          <a:noFill/>
          <a:ln/>
        </p:spPr>
        <p:txBody>
          <a:bodyPr wrap="square" rtlCol="0" anchor="ctr"/>
          <a:lstStyle/>
          <a:p>
            <a:pPr indent="0" marL="0">
              <a:lnSpc>
                <a:spcPct val="125000"/>
              </a:lnSpc>
              <a:buNone/>
            </a:pPr>
            <a:r>
              <a:rPr lang="en-US" sz="1300" dirty="0">
                <a:solidFill>
                  <a:srgbClr val="F0F5F7"/>
                </a:solidFill>
                <a:latin typeface="Calibri" pitchFamily="34" charset="0"/>
                <a:ea typeface="Calibri" pitchFamily="34" charset="-122"/>
                <a:cs typeface="Calibri" pitchFamily="34" charset="-120"/>
              </a:rPr>
              <a:t>15–20 participants at the first event → increased cultural awareness, more language-practice opportunities, stronger intercultural networking, and a recurring SCO cultural-exchange community.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17320"/>
          </a:xfrm>
          <a:prstGeom prst="rect">
            <a:avLst/>
          </a:prstGeom>
          <a:solidFill>
            <a:srgbClr val="0A3D5C"/>
          </a:solidFill>
          <a:ln/>
        </p:spPr>
      </p:sp>
      <p:sp>
        <p:nvSpPr>
          <p:cNvPr id="3" name="Text 1"/>
          <p:cNvSpPr/>
          <p:nvPr/>
        </p:nvSpPr>
        <p:spPr>
          <a:xfrm>
            <a:off x="548640" y="201168"/>
            <a:ext cx="5486400" cy="32004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PROJECT 2</a:t>
            </a:r>
            <a:endParaRPr lang="en-US" sz="1200" dirty="0"/>
          </a:p>
        </p:txBody>
      </p:sp>
      <p:sp>
        <p:nvSpPr>
          <p:cNvPr id="4" name="Text 2"/>
          <p:cNvSpPr/>
          <p:nvPr/>
        </p:nvSpPr>
        <p:spPr>
          <a:xfrm>
            <a:off x="548640" y="457200"/>
            <a:ext cx="73152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Chirag</a:t>
            </a:r>
            <a:endParaRPr lang="en-US" sz="3200" dirty="0"/>
          </a:p>
        </p:txBody>
      </p:sp>
      <p:sp>
        <p:nvSpPr>
          <p:cNvPr id="5" name="Text 3"/>
          <p:cNvSpPr/>
          <p:nvPr/>
        </p:nvSpPr>
        <p:spPr>
          <a:xfrm>
            <a:off x="548640" y="1051560"/>
            <a:ext cx="7315200" cy="2743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Lighting up skills for underprivileged students</a:t>
            </a:r>
            <a:endParaRPr lang="en-US" sz="1200" dirty="0"/>
          </a:p>
        </p:txBody>
      </p:sp>
      <p:sp>
        <p:nvSpPr>
          <p:cNvPr id="6" name="Shape 4"/>
          <p:cNvSpPr/>
          <p:nvPr/>
        </p:nvSpPr>
        <p:spPr>
          <a:xfrm>
            <a:off x="9692640" y="365760"/>
            <a:ext cx="1965960" cy="685800"/>
          </a:xfrm>
          <a:prstGeom prst="roundRect">
            <a:avLst>
              <a:gd name="adj" fmla="val 10667"/>
            </a:avLst>
          </a:prstGeom>
          <a:solidFill>
            <a:srgbClr val="FFFFFF">
              <a:alpha val="88000"/>
            </a:srgbClr>
          </a:solidFill>
          <a:ln/>
        </p:spPr>
      </p:sp>
      <p:sp>
        <p:nvSpPr>
          <p:cNvPr id="7" name="Text 5"/>
          <p:cNvSpPr/>
          <p:nvPr/>
        </p:nvSpPr>
        <p:spPr>
          <a:xfrm>
            <a:off x="9692640" y="365760"/>
            <a:ext cx="1965960" cy="685800"/>
          </a:xfrm>
          <a:prstGeom prst="rect">
            <a:avLst/>
          </a:prstGeom>
          <a:noFill/>
          <a:ln/>
        </p:spPr>
        <p:txBody>
          <a:bodyPr wrap="square" rtlCol="0" anchor="ctr"/>
          <a:lstStyle/>
          <a:p>
            <a:pPr algn="ctr" indent="0" marL="0">
              <a:buNone/>
            </a:pPr>
            <a:r>
              <a:rPr lang="en-US" sz="1300" b="1" dirty="0">
                <a:solidFill>
                  <a:srgbClr val="0A3D5C"/>
                </a:solidFill>
                <a:latin typeface="Calibri" pitchFamily="34" charset="0"/>
                <a:ea typeface="Calibri" pitchFamily="34" charset="-122"/>
                <a:cs typeface="Calibri" pitchFamily="34" charset="-120"/>
              </a:rPr>
              <a:t>End of July</a:t>
            </a:r>
            <a:endParaRPr lang="en-US" sz="1300" dirty="0"/>
          </a:p>
        </p:txBody>
      </p:sp>
      <p:sp>
        <p:nvSpPr>
          <p:cNvPr id="8" name="Text 6"/>
          <p:cNvSpPr/>
          <p:nvPr/>
        </p:nvSpPr>
        <p:spPr>
          <a:xfrm>
            <a:off x="548640" y="1691640"/>
            <a:ext cx="5852160" cy="274320"/>
          </a:xfrm>
          <a:prstGeom prst="rect">
            <a:avLst/>
          </a:prstGeom>
          <a:noFill/>
          <a:ln/>
        </p:spPr>
        <p:txBody>
          <a:bodyPr wrap="square" rtlCol="0" anchor="ctr"/>
          <a:lstStyle/>
          <a:p>
            <a:pPr indent="0" marL="0">
              <a:buNone/>
            </a:pPr>
            <a:r>
              <a:rPr lang="en-US" sz="1150" b="1" dirty="0">
                <a:solidFill>
                  <a:srgbClr val="0A3D5C"/>
                </a:solidFill>
                <a:latin typeface="Calibri" pitchFamily="34" charset="0"/>
                <a:ea typeface="Calibri" pitchFamily="34" charset="-122"/>
                <a:cs typeface="Calibri" pitchFamily="34" charset="-120"/>
              </a:rPr>
              <a:t>WHAT IT IS</a:t>
            </a:r>
            <a:endParaRPr lang="en-US" sz="1150" dirty="0"/>
          </a:p>
        </p:txBody>
      </p:sp>
      <p:sp>
        <p:nvSpPr>
          <p:cNvPr id="9" name="Text 7"/>
          <p:cNvSpPr/>
          <p:nvPr/>
        </p:nvSpPr>
        <p:spPr>
          <a:xfrm>
            <a:off x="548640" y="1965960"/>
            <a:ext cx="5852160" cy="1234440"/>
          </a:xfrm>
          <a:prstGeom prst="rect">
            <a:avLst/>
          </a:prstGeom>
          <a:noFill/>
          <a:ln/>
        </p:spPr>
        <p:txBody>
          <a:bodyPr wrap="square" rtlCol="0" anchor="ctr"/>
          <a:lstStyle/>
          <a:p>
            <a:pPr indent="0" marL="0">
              <a:lnSpc>
                <a:spcPct val="125000"/>
              </a:lnSpc>
              <a:buNone/>
            </a:pPr>
            <a:r>
              <a:rPr lang="en-US" sz="1350" dirty="0">
                <a:solidFill>
                  <a:srgbClr val="17242D"/>
                </a:solidFill>
                <a:latin typeface="Calibri" pitchFamily="34" charset="0"/>
                <a:ea typeface="Calibri" pitchFamily="34" charset="-122"/>
                <a:cs typeface="Calibri" pitchFamily="34" charset="-120"/>
              </a:rPr>
              <a:t>Practical-skills workshops — communication, subject knowledge, and career awareness — for underprivileged school students, delivered through interactive sessions by SCOLAR volunteers.</a:t>
            </a:r>
            <a:endParaRPr lang="en-US" sz="1350" dirty="0"/>
          </a:p>
        </p:txBody>
      </p:sp>
      <p:sp>
        <p:nvSpPr>
          <p:cNvPr id="10" name="Text 8"/>
          <p:cNvSpPr/>
          <p:nvPr/>
        </p:nvSpPr>
        <p:spPr>
          <a:xfrm>
            <a:off x="548640" y="3291840"/>
            <a:ext cx="5852160" cy="274320"/>
          </a:xfrm>
          <a:prstGeom prst="rect">
            <a:avLst/>
          </a:prstGeom>
          <a:noFill/>
          <a:ln/>
        </p:spPr>
        <p:txBody>
          <a:bodyPr wrap="square" rtlCol="0" anchor="ctr"/>
          <a:lstStyle/>
          <a:p>
            <a:pPr indent="0" marL="0">
              <a:buNone/>
            </a:pPr>
            <a:r>
              <a:rPr lang="en-US" sz="1150" b="1" dirty="0">
                <a:solidFill>
                  <a:srgbClr val="0A3D5C"/>
                </a:solidFill>
                <a:latin typeface="Calibri" pitchFamily="34" charset="0"/>
                <a:ea typeface="Calibri" pitchFamily="34" charset="-122"/>
                <a:cs typeface="Calibri" pitchFamily="34" charset="-120"/>
              </a:rPr>
              <a:t>HOW IT RUNS</a:t>
            </a:r>
            <a:endParaRPr lang="en-US" sz="1150" dirty="0"/>
          </a:p>
        </p:txBody>
      </p:sp>
      <p:sp>
        <p:nvSpPr>
          <p:cNvPr id="11" name="Text 9"/>
          <p:cNvSpPr/>
          <p:nvPr/>
        </p:nvSpPr>
        <p:spPr>
          <a:xfrm>
            <a:off x="548640" y="3566160"/>
            <a:ext cx="5852160" cy="1371600"/>
          </a:xfrm>
          <a:prstGeom prst="rect">
            <a:avLst/>
          </a:prstGeom>
          <a:noFill/>
          <a:ln/>
        </p:spPr>
        <p:txBody>
          <a:bodyPr wrap="square" rtlCol="0" anchor="ctr"/>
          <a:lstStyle/>
          <a:p>
            <a:pPr indent="0" marL="0">
              <a:lnSpc>
                <a:spcPct val="125000"/>
              </a:lnSpc>
              <a:buNone/>
            </a:pPr>
            <a:r>
              <a:rPr lang="en-US" sz="1350" dirty="0">
                <a:solidFill>
                  <a:srgbClr val="17242D"/>
                </a:solidFill>
                <a:latin typeface="Calibri" pitchFamily="34" charset="0"/>
                <a:ea typeface="Calibri" pitchFamily="34" charset="-122"/>
                <a:cs typeface="Calibri" pitchFamily="34" charset="-120"/>
              </a:rPr>
              <a:t>On-site sessions held in school classrooms and open community spaces. Delivered by SCOLAR volunteer trainers and subject-matter peer experts.</a:t>
            </a:r>
            <a:endParaRPr lang="en-US" sz="1350" dirty="0"/>
          </a:p>
        </p:txBody>
      </p:sp>
      <p:sp>
        <p:nvSpPr>
          <p:cNvPr id="12" name="Shape 10"/>
          <p:cNvSpPr/>
          <p:nvPr/>
        </p:nvSpPr>
        <p:spPr>
          <a:xfrm>
            <a:off x="6720840" y="1691640"/>
            <a:ext cx="4937760" cy="1691640"/>
          </a:xfrm>
          <a:prstGeom prst="roundRect">
            <a:avLst>
              <a:gd name="adj" fmla="val 5405"/>
            </a:avLst>
          </a:prstGeom>
          <a:solidFill>
            <a:srgbClr val="F3F7F9"/>
          </a:solidFill>
          <a:ln/>
        </p:spPr>
      </p:sp>
      <p:sp>
        <p:nvSpPr>
          <p:cNvPr id="13" name="Text 11"/>
          <p:cNvSpPr/>
          <p:nvPr/>
        </p:nvSpPr>
        <p:spPr>
          <a:xfrm>
            <a:off x="6949440" y="1828800"/>
            <a:ext cx="4572000" cy="274320"/>
          </a:xfrm>
          <a:prstGeom prst="rect">
            <a:avLst/>
          </a:prstGeom>
          <a:noFill/>
          <a:ln/>
        </p:spPr>
        <p:txBody>
          <a:bodyPr wrap="square" rtlCol="0" anchor="ctr"/>
          <a:lstStyle/>
          <a:p>
            <a:pPr indent="0" marL="0">
              <a:buNone/>
            </a:pPr>
            <a:r>
              <a:rPr lang="en-US" sz="1150" b="1" dirty="0">
                <a:solidFill>
                  <a:srgbClr val="0A3D5C"/>
                </a:solidFill>
                <a:latin typeface="Calibri" pitchFamily="34" charset="0"/>
                <a:ea typeface="Calibri" pitchFamily="34" charset="-122"/>
                <a:cs typeface="Calibri" pitchFamily="34" charset="-120"/>
              </a:rPr>
              <a:t>WHO JOINS</a:t>
            </a:r>
            <a:endParaRPr lang="en-US" sz="1150" dirty="0"/>
          </a:p>
        </p:txBody>
      </p:sp>
      <p:sp>
        <p:nvSpPr>
          <p:cNvPr id="14" name="Text 12"/>
          <p:cNvSpPr/>
          <p:nvPr/>
        </p:nvSpPr>
        <p:spPr>
          <a:xfrm>
            <a:off x="6949440" y="2103120"/>
            <a:ext cx="4480560" cy="1188720"/>
          </a:xfrm>
          <a:prstGeom prst="rect">
            <a:avLst/>
          </a:prstGeom>
          <a:noFill/>
          <a:ln/>
        </p:spPr>
        <p:txBody>
          <a:bodyPr wrap="square" rtlCol="0" anchor="ctr"/>
          <a:lstStyle/>
          <a:p>
            <a:pPr indent="0" marL="0">
              <a:lnSpc>
                <a:spcPct val="120000"/>
              </a:lnSpc>
              <a:buNone/>
            </a:pPr>
            <a:r>
              <a:rPr lang="en-US" sz="1250" dirty="0">
                <a:solidFill>
                  <a:srgbClr val="17242D"/>
                </a:solidFill>
                <a:latin typeface="Calibri" pitchFamily="34" charset="0"/>
                <a:ea typeface="Calibri" pitchFamily="34" charset="-122"/>
                <a:cs typeface="Calibri" pitchFamily="34" charset="-120"/>
              </a:rPr>
              <a:t>Students aged 13–18 from underprivileged schools; 30–40 students per session.</a:t>
            </a:r>
            <a:endParaRPr lang="en-US" sz="1250" dirty="0"/>
          </a:p>
        </p:txBody>
      </p:sp>
      <p:sp>
        <p:nvSpPr>
          <p:cNvPr id="15" name="Shape 13"/>
          <p:cNvSpPr/>
          <p:nvPr/>
        </p:nvSpPr>
        <p:spPr>
          <a:xfrm>
            <a:off x="6720840" y="3520440"/>
            <a:ext cx="4937760" cy="1417320"/>
          </a:xfrm>
          <a:prstGeom prst="roundRect">
            <a:avLst>
              <a:gd name="adj" fmla="val 6452"/>
            </a:avLst>
          </a:prstGeom>
          <a:solidFill>
            <a:srgbClr val="F3F7F9"/>
          </a:solidFill>
          <a:ln/>
        </p:spPr>
      </p:sp>
      <p:sp>
        <p:nvSpPr>
          <p:cNvPr id="16" name="Text 14"/>
          <p:cNvSpPr/>
          <p:nvPr/>
        </p:nvSpPr>
        <p:spPr>
          <a:xfrm>
            <a:off x="6949440" y="3657600"/>
            <a:ext cx="4572000" cy="274320"/>
          </a:xfrm>
          <a:prstGeom prst="rect">
            <a:avLst/>
          </a:prstGeom>
          <a:noFill/>
          <a:ln/>
        </p:spPr>
        <p:txBody>
          <a:bodyPr wrap="square" rtlCol="0" anchor="ctr"/>
          <a:lstStyle/>
          <a:p>
            <a:pPr indent="0" marL="0">
              <a:buNone/>
            </a:pPr>
            <a:r>
              <a:rPr lang="en-US" sz="1150" b="1" dirty="0">
                <a:solidFill>
                  <a:srgbClr val="0A3D5C"/>
                </a:solidFill>
                <a:latin typeface="Calibri" pitchFamily="34" charset="0"/>
                <a:ea typeface="Calibri" pitchFamily="34" charset="-122"/>
                <a:cs typeface="Calibri" pitchFamily="34" charset="-120"/>
              </a:rPr>
              <a:t>PROMOTION CHANNELS</a:t>
            </a:r>
            <a:endParaRPr lang="en-US" sz="1150" dirty="0"/>
          </a:p>
        </p:txBody>
      </p:sp>
      <p:sp>
        <p:nvSpPr>
          <p:cNvPr id="17" name="Text 15"/>
          <p:cNvSpPr/>
          <p:nvPr/>
        </p:nvSpPr>
        <p:spPr>
          <a:xfrm>
            <a:off x="6949440" y="3931920"/>
            <a:ext cx="4480560" cy="914400"/>
          </a:xfrm>
          <a:prstGeom prst="rect">
            <a:avLst/>
          </a:prstGeom>
          <a:noFill/>
          <a:ln/>
        </p:spPr>
        <p:txBody>
          <a:bodyPr wrap="square" rtlCol="0" anchor="ctr"/>
          <a:lstStyle/>
          <a:p>
            <a:pPr indent="0" marL="0">
              <a:lnSpc>
                <a:spcPct val="115000"/>
              </a:lnSpc>
              <a:buNone/>
            </a:pPr>
            <a:r>
              <a:rPr lang="en-US" sz="1200" dirty="0">
                <a:solidFill>
                  <a:srgbClr val="17242D"/>
                </a:solidFill>
                <a:latin typeface="Calibri" pitchFamily="34" charset="0"/>
                <a:ea typeface="Calibri" pitchFamily="34" charset="-122"/>
                <a:cs typeface="Calibri" pitchFamily="34" charset="-120"/>
              </a:rPr>
              <a:t>Partner schools, SCOLAR Instagram and LinkedIn, WhatsApp, teacher networks.</a:t>
            </a:r>
            <a:endParaRPr lang="en-US" sz="1200" dirty="0"/>
          </a:p>
        </p:txBody>
      </p:sp>
      <p:sp>
        <p:nvSpPr>
          <p:cNvPr id="18" name="Shape 16"/>
          <p:cNvSpPr/>
          <p:nvPr/>
        </p:nvSpPr>
        <p:spPr>
          <a:xfrm>
            <a:off x="0" y="5257800"/>
            <a:ext cx="12188952" cy="1600200"/>
          </a:xfrm>
          <a:prstGeom prst="rect">
            <a:avLst/>
          </a:prstGeom>
          <a:solidFill>
            <a:srgbClr val="0A3D5C"/>
          </a:solidFill>
          <a:ln/>
        </p:spPr>
      </p:sp>
      <p:sp>
        <p:nvSpPr>
          <p:cNvPr id="19" name="Text 17"/>
          <p:cNvSpPr/>
          <p:nvPr/>
        </p:nvSpPr>
        <p:spPr>
          <a:xfrm>
            <a:off x="548640" y="5413248"/>
            <a:ext cx="365760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EXPECTED RESULTS</a:t>
            </a:r>
            <a:endParaRPr lang="en-US" sz="1150" dirty="0"/>
          </a:p>
        </p:txBody>
      </p:sp>
      <p:sp>
        <p:nvSpPr>
          <p:cNvPr id="20" name="Text 18"/>
          <p:cNvSpPr/>
          <p:nvPr/>
        </p:nvSpPr>
        <p:spPr>
          <a:xfrm>
            <a:off x="548640" y="5687568"/>
            <a:ext cx="11064240" cy="1097280"/>
          </a:xfrm>
          <a:prstGeom prst="rect">
            <a:avLst/>
          </a:prstGeom>
          <a:noFill/>
          <a:ln/>
        </p:spPr>
        <p:txBody>
          <a:bodyPr wrap="square" rtlCol="0" anchor="ctr"/>
          <a:lstStyle/>
          <a:p>
            <a:pPr indent="0" marL="0">
              <a:lnSpc>
                <a:spcPct val="125000"/>
              </a:lnSpc>
              <a:buNone/>
            </a:pPr>
            <a:r>
              <a:rPr lang="en-US" sz="1300" dirty="0">
                <a:solidFill>
                  <a:srgbClr val="F0F5F7"/>
                </a:solidFill>
                <a:latin typeface="Calibri" pitchFamily="34" charset="0"/>
                <a:ea typeface="Calibri" pitchFamily="34" charset="-122"/>
                <a:cs typeface="Calibri" pitchFamily="34" charset="-120"/>
              </a:rPr>
              <a:t>100+ students reached at the first event → skills measured with pre- and post-session surveys, and an ongoing relationship with schools for future events.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17320"/>
          </a:xfrm>
          <a:prstGeom prst="rect">
            <a:avLst/>
          </a:prstGeom>
          <a:solidFill>
            <a:srgbClr val="01411C"/>
          </a:solidFill>
          <a:ln/>
        </p:spPr>
      </p:sp>
      <p:sp>
        <p:nvSpPr>
          <p:cNvPr id="3" name="Text 1"/>
          <p:cNvSpPr/>
          <p:nvPr/>
        </p:nvSpPr>
        <p:spPr>
          <a:xfrm>
            <a:off x="548640" y="201168"/>
            <a:ext cx="5486400" cy="32004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PROJECT 3</a:t>
            </a:r>
            <a:endParaRPr lang="en-US" sz="1200" dirty="0"/>
          </a:p>
        </p:txBody>
      </p:sp>
      <p:sp>
        <p:nvSpPr>
          <p:cNvPr id="4" name="Text 2"/>
          <p:cNvSpPr/>
          <p:nvPr/>
        </p:nvSpPr>
        <p:spPr>
          <a:xfrm>
            <a:off x="548640" y="457200"/>
            <a:ext cx="73152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Mil Baithak</a:t>
            </a:r>
            <a:endParaRPr lang="en-US" sz="3200" dirty="0"/>
          </a:p>
        </p:txBody>
      </p:sp>
      <p:sp>
        <p:nvSpPr>
          <p:cNvPr id="5" name="Text 3"/>
          <p:cNvSpPr/>
          <p:nvPr/>
        </p:nvSpPr>
        <p:spPr>
          <a:xfrm>
            <a:off x="548640" y="1051560"/>
            <a:ext cx="7315200" cy="2743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Dialogue rooted in Allama Iqbal's philosophy of Khudi</a:t>
            </a:r>
            <a:endParaRPr lang="en-US" sz="1200" dirty="0"/>
          </a:p>
        </p:txBody>
      </p:sp>
      <p:sp>
        <p:nvSpPr>
          <p:cNvPr id="6" name="Shape 4"/>
          <p:cNvSpPr/>
          <p:nvPr/>
        </p:nvSpPr>
        <p:spPr>
          <a:xfrm>
            <a:off x="9692640" y="365760"/>
            <a:ext cx="1965960" cy="685800"/>
          </a:xfrm>
          <a:prstGeom prst="roundRect">
            <a:avLst>
              <a:gd name="adj" fmla="val 10667"/>
            </a:avLst>
          </a:prstGeom>
          <a:solidFill>
            <a:srgbClr val="FFFFFF">
              <a:alpha val="88000"/>
            </a:srgbClr>
          </a:solidFill>
          <a:ln/>
        </p:spPr>
      </p:sp>
      <p:sp>
        <p:nvSpPr>
          <p:cNvPr id="7" name="Text 5"/>
          <p:cNvSpPr/>
          <p:nvPr/>
        </p:nvSpPr>
        <p:spPr>
          <a:xfrm>
            <a:off x="9692640" y="365760"/>
            <a:ext cx="1965960" cy="685800"/>
          </a:xfrm>
          <a:prstGeom prst="rect">
            <a:avLst/>
          </a:prstGeom>
          <a:noFill/>
          <a:ln/>
        </p:spPr>
        <p:txBody>
          <a:bodyPr wrap="square" rtlCol="0" anchor="ctr"/>
          <a:lstStyle/>
          <a:p>
            <a:pPr algn="ctr" indent="0" marL="0">
              <a:buNone/>
            </a:pPr>
            <a:r>
              <a:rPr lang="en-US" sz="1300" b="1" dirty="0">
                <a:solidFill>
                  <a:srgbClr val="01411C"/>
                </a:solidFill>
                <a:latin typeface="Calibri" pitchFamily="34" charset="0"/>
                <a:ea typeface="Calibri" pitchFamily="34" charset="-122"/>
                <a:cs typeface="Calibri" pitchFamily="34" charset="-120"/>
              </a:rPr>
              <a:t>Mid-September</a:t>
            </a:r>
            <a:endParaRPr lang="en-US" sz="1300" dirty="0"/>
          </a:p>
        </p:txBody>
      </p:sp>
      <p:sp>
        <p:nvSpPr>
          <p:cNvPr id="8" name="Text 6"/>
          <p:cNvSpPr/>
          <p:nvPr/>
        </p:nvSpPr>
        <p:spPr>
          <a:xfrm>
            <a:off x="548640" y="1691640"/>
            <a:ext cx="5852160" cy="274320"/>
          </a:xfrm>
          <a:prstGeom prst="rect">
            <a:avLst/>
          </a:prstGeom>
          <a:noFill/>
          <a:ln/>
        </p:spPr>
        <p:txBody>
          <a:bodyPr wrap="square" rtlCol="0" anchor="ctr"/>
          <a:lstStyle/>
          <a:p>
            <a:pPr indent="0" marL="0">
              <a:buNone/>
            </a:pPr>
            <a:r>
              <a:rPr lang="en-US" sz="1150" b="1" dirty="0">
                <a:solidFill>
                  <a:srgbClr val="01411C"/>
                </a:solidFill>
                <a:latin typeface="Calibri" pitchFamily="34" charset="0"/>
                <a:ea typeface="Calibri" pitchFamily="34" charset="-122"/>
                <a:cs typeface="Calibri" pitchFamily="34" charset="-120"/>
              </a:rPr>
              <a:t>WHAT IT IS</a:t>
            </a:r>
            <a:endParaRPr lang="en-US" sz="1150" dirty="0"/>
          </a:p>
        </p:txBody>
      </p:sp>
      <p:sp>
        <p:nvSpPr>
          <p:cNvPr id="9" name="Text 7"/>
          <p:cNvSpPr/>
          <p:nvPr/>
        </p:nvSpPr>
        <p:spPr>
          <a:xfrm>
            <a:off x="548640" y="1965960"/>
            <a:ext cx="5852160" cy="1234440"/>
          </a:xfrm>
          <a:prstGeom prst="rect">
            <a:avLst/>
          </a:prstGeom>
          <a:noFill/>
          <a:ln/>
        </p:spPr>
        <p:txBody>
          <a:bodyPr wrap="square" rtlCol="0" anchor="ctr"/>
          <a:lstStyle/>
          <a:p>
            <a:pPr indent="0" marL="0">
              <a:lnSpc>
                <a:spcPct val="125000"/>
              </a:lnSpc>
              <a:buNone/>
            </a:pPr>
            <a:r>
              <a:rPr lang="en-US" sz="1350" dirty="0">
                <a:solidFill>
                  <a:srgbClr val="17242D"/>
                </a:solidFill>
                <a:latin typeface="Calibri" pitchFamily="34" charset="0"/>
                <a:ea typeface="Calibri" pitchFamily="34" charset="-122"/>
                <a:cs typeface="Calibri" pitchFamily="34" charset="-120"/>
              </a:rPr>
              <a:t>Round-table dialogue on international relations, policy, and cross-cultural cooperation. Built around Allama Iqbal's idea of Khudi (self-belief) — a safe space to learn from fellow SCOLAR members. (Political issues among SCO countries are only covered when presented by an outside expert.)</a:t>
            </a:r>
            <a:endParaRPr lang="en-US" sz="1350" dirty="0"/>
          </a:p>
        </p:txBody>
      </p:sp>
      <p:sp>
        <p:nvSpPr>
          <p:cNvPr id="10" name="Text 8"/>
          <p:cNvSpPr/>
          <p:nvPr/>
        </p:nvSpPr>
        <p:spPr>
          <a:xfrm>
            <a:off x="548640" y="3291840"/>
            <a:ext cx="5852160" cy="274320"/>
          </a:xfrm>
          <a:prstGeom prst="rect">
            <a:avLst/>
          </a:prstGeom>
          <a:noFill/>
          <a:ln/>
        </p:spPr>
        <p:txBody>
          <a:bodyPr wrap="square" rtlCol="0" anchor="ctr"/>
          <a:lstStyle/>
          <a:p>
            <a:pPr indent="0" marL="0">
              <a:buNone/>
            </a:pPr>
            <a:r>
              <a:rPr lang="en-US" sz="1150" b="1" dirty="0">
                <a:solidFill>
                  <a:srgbClr val="01411C"/>
                </a:solidFill>
                <a:latin typeface="Calibri" pitchFamily="34" charset="0"/>
                <a:ea typeface="Calibri" pitchFamily="34" charset="-122"/>
                <a:cs typeface="Calibri" pitchFamily="34" charset="-120"/>
              </a:rPr>
              <a:t>HOW IT RUNS</a:t>
            </a:r>
            <a:endParaRPr lang="en-US" sz="1150" dirty="0"/>
          </a:p>
        </p:txBody>
      </p:sp>
      <p:sp>
        <p:nvSpPr>
          <p:cNvPr id="11" name="Text 9"/>
          <p:cNvSpPr/>
          <p:nvPr/>
        </p:nvSpPr>
        <p:spPr>
          <a:xfrm>
            <a:off x="548640" y="3566160"/>
            <a:ext cx="5852160" cy="1371600"/>
          </a:xfrm>
          <a:prstGeom prst="rect">
            <a:avLst/>
          </a:prstGeom>
          <a:noFill/>
          <a:ln/>
        </p:spPr>
        <p:txBody>
          <a:bodyPr wrap="square" rtlCol="0" anchor="ctr"/>
          <a:lstStyle/>
          <a:p>
            <a:pPr indent="0" marL="0">
              <a:lnSpc>
                <a:spcPct val="125000"/>
              </a:lnSpc>
              <a:buNone/>
            </a:pPr>
            <a:r>
              <a:rPr lang="en-US" sz="1350" dirty="0">
                <a:solidFill>
                  <a:srgbClr val="17242D"/>
                </a:solidFill>
                <a:latin typeface="Calibri" pitchFamily="34" charset="0"/>
                <a:ea typeface="Calibri" pitchFamily="34" charset="-122"/>
                <a:cs typeface="Calibri" pitchFamily="34" charset="-120"/>
              </a:rPr>
              <a:t>Round tables, group discussions, an online campaign, and personal networks used for outreach and invitations. Guests include academics, policy experts, social entrepreneurs, youth leaders, and an ambassador or embassy representative from an SCO country.</a:t>
            </a:r>
            <a:endParaRPr lang="en-US" sz="1350" dirty="0"/>
          </a:p>
        </p:txBody>
      </p:sp>
      <p:sp>
        <p:nvSpPr>
          <p:cNvPr id="12" name="Shape 10"/>
          <p:cNvSpPr/>
          <p:nvPr/>
        </p:nvSpPr>
        <p:spPr>
          <a:xfrm>
            <a:off x="6720840" y="1691640"/>
            <a:ext cx="4937760" cy="1691640"/>
          </a:xfrm>
          <a:prstGeom prst="roundRect">
            <a:avLst>
              <a:gd name="adj" fmla="val 5405"/>
            </a:avLst>
          </a:prstGeom>
          <a:solidFill>
            <a:srgbClr val="F3F7F9"/>
          </a:solidFill>
          <a:ln/>
        </p:spPr>
      </p:sp>
      <p:sp>
        <p:nvSpPr>
          <p:cNvPr id="13" name="Text 11"/>
          <p:cNvSpPr/>
          <p:nvPr/>
        </p:nvSpPr>
        <p:spPr>
          <a:xfrm>
            <a:off x="6949440" y="1828800"/>
            <a:ext cx="4572000" cy="274320"/>
          </a:xfrm>
          <a:prstGeom prst="rect">
            <a:avLst/>
          </a:prstGeom>
          <a:noFill/>
          <a:ln/>
        </p:spPr>
        <p:txBody>
          <a:bodyPr wrap="square" rtlCol="0" anchor="ctr"/>
          <a:lstStyle/>
          <a:p>
            <a:pPr indent="0" marL="0">
              <a:buNone/>
            </a:pPr>
            <a:r>
              <a:rPr lang="en-US" sz="1150" b="1" dirty="0">
                <a:solidFill>
                  <a:srgbClr val="01411C"/>
                </a:solidFill>
                <a:latin typeface="Calibri" pitchFamily="34" charset="0"/>
                <a:ea typeface="Calibri" pitchFamily="34" charset="-122"/>
                <a:cs typeface="Calibri" pitchFamily="34" charset="-120"/>
              </a:rPr>
              <a:t>WHO JOINS</a:t>
            </a:r>
            <a:endParaRPr lang="en-US" sz="1150" dirty="0"/>
          </a:p>
        </p:txBody>
      </p:sp>
      <p:sp>
        <p:nvSpPr>
          <p:cNvPr id="14" name="Text 12"/>
          <p:cNvSpPr/>
          <p:nvPr/>
        </p:nvSpPr>
        <p:spPr>
          <a:xfrm>
            <a:off x="6949440" y="2103120"/>
            <a:ext cx="4480560" cy="1188720"/>
          </a:xfrm>
          <a:prstGeom prst="rect">
            <a:avLst/>
          </a:prstGeom>
          <a:noFill/>
          <a:ln/>
        </p:spPr>
        <p:txBody>
          <a:bodyPr wrap="square" rtlCol="0" anchor="ctr"/>
          <a:lstStyle/>
          <a:p>
            <a:pPr indent="0" marL="0">
              <a:lnSpc>
                <a:spcPct val="120000"/>
              </a:lnSpc>
              <a:buNone/>
            </a:pPr>
            <a:r>
              <a:rPr lang="en-US" sz="1250" dirty="0">
                <a:solidFill>
                  <a:srgbClr val="17242D"/>
                </a:solidFill>
                <a:latin typeface="Calibri" pitchFamily="34" charset="0"/>
                <a:ea typeface="Calibri" pitchFamily="34" charset="-122"/>
                <a:cs typeface="Calibri" pitchFamily="34" charset="-120"/>
              </a:rPr>
              <a:t>Bachelor's and Master's students across fields such as CS, Medicine, Public Policy, and Economics, plus researchers and policy practitioners, ages 19–26.</a:t>
            </a:r>
            <a:endParaRPr lang="en-US" sz="1250" dirty="0"/>
          </a:p>
        </p:txBody>
      </p:sp>
      <p:sp>
        <p:nvSpPr>
          <p:cNvPr id="15" name="Shape 13"/>
          <p:cNvSpPr/>
          <p:nvPr/>
        </p:nvSpPr>
        <p:spPr>
          <a:xfrm>
            <a:off x="6720840" y="3520440"/>
            <a:ext cx="4937760" cy="1417320"/>
          </a:xfrm>
          <a:prstGeom prst="roundRect">
            <a:avLst>
              <a:gd name="adj" fmla="val 6452"/>
            </a:avLst>
          </a:prstGeom>
          <a:solidFill>
            <a:srgbClr val="F3F7F9"/>
          </a:solidFill>
          <a:ln/>
        </p:spPr>
      </p:sp>
      <p:sp>
        <p:nvSpPr>
          <p:cNvPr id="16" name="Text 14"/>
          <p:cNvSpPr/>
          <p:nvPr/>
        </p:nvSpPr>
        <p:spPr>
          <a:xfrm>
            <a:off x="6949440" y="3657600"/>
            <a:ext cx="4572000" cy="274320"/>
          </a:xfrm>
          <a:prstGeom prst="rect">
            <a:avLst/>
          </a:prstGeom>
          <a:noFill/>
          <a:ln/>
        </p:spPr>
        <p:txBody>
          <a:bodyPr wrap="square" rtlCol="0" anchor="ctr"/>
          <a:lstStyle/>
          <a:p>
            <a:pPr indent="0" marL="0">
              <a:buNone/>
            </a:pPr>
            <a:r>
              <a:rPr lang="en-US" sz="1150" b="1" dirty="0">
                <a:solidFill>
                  <a:srgbClr val="01411C"/>
                </a:solidFill>
                <a:latin typeface="Calibri" pitchFamily="34" charset="0"/>
                <a:ea typeface="Calibri" pitchFamily="34" charset="-122"/>
                <a:cs typeface="Calibri" pitchFamily="34" charset="-120"/>
              </a:rPr>
              <a:t>PROMOTION CHANNELS</a:t>
            </a:r>
            <a:endParaRPr lang="en-US" sz="1150" dirty="0"/>
          </a:p>
        </p:txBody>
      </p:sp>
      <p:sp>
        <p:nvSpPr>
          <p:cNvPr id="17" name="Text 15"/>
          <p:cNvSpPr/>
          <p:nvPr/>
        </p:nvSpPr>
        <p:spPr>
          <a:xfrm>
            <a:off x="6949440" y="3931920"/>
            <a:ext cx="4480560" cy="914400"/>
          </a:xfrm>
          <a:prstGeom prst="rect">
            <a:avLst/>
          </a:prstGeom>
          <a:noFill/>
          <a:ln/>
        </p:spPr>
        <p:txBody>
          <a:bodyPr wrap="square" rtlCol="0" anchor="ctr"/>
          <a:lstStyle/>
          <a:p>
            <a:pPr indent="0" marL="0">
              <a:lnSpc>
                <a:spcPct val="115000"/>
              </a:lnSpc>
              <a:buNone/>
            </a:pPr>
            <a:r>
              <a:rPr lang="en-US" sz="1200" dirty="0">
                <a:solidFill>
                  <a:srgbClr val="17242D"/>
                </a:solidFill>
                <a:latin typeface="Calibri" pitchFamily="34" charset="0"/>
                <a:ea typeface="Calibri" pitchFamily="34" charset="-122"/>
                <a:cs typeface="Calibri" pitchFamily="34" charset="-120"/>
              </a:rPr>
              <a:t>Instagram, LinkedIn, SCOLAR Network website, WhatsApp groups, partner organizations, email invitations.</a:t>
            </a:r>
            <a:endParaRPr lang="en-US" sz="1200" dirty="0"/>
          </a:p>
        </p:txBody>
      </p:sp>
      <p:sp>
        <p:nvSpPr>
          <p:cNvPr id="18" name="Shape 16"/>
          <p:cNvSpPr/>
          <p:nvPr/>
        </p:nvSpPr>
        <p:spPr>
          <a:xfrm>
            <a:off x="0" y="5257800"/>
            <a:ext cx="12188952" cy="1600200"/>
          </a:xfrm>
          <a:prstGeom prst="rect">
            <a:avLst/>
          </a:prstGeom>
          <a:solidFill>
            <a:srgbClr val="0A3D5C"/>
          </a:solidFill>
          <a:ln/>
        </p:spPr>
      </p:sp>
      <p:sp>
        <p:nvSpPr>
          <p:cNvPr id="19" name="Text 17"/>
          <p:cNvSpPr/>
          <p:nvPr/>
        </p:nvSpPr>
        <p:spPr>
          <a:xfrm>
            <a:off x="548640" y="5413248"/>
            <a:ext cx="3657600" cy="274320"/>
          </a:xfrm>
          <a:prstGeom prst="rect">
            <a:avLst/>
          </a:prstGeom>
          <a:noFill/>
          <a:ln/>
        </p:spPr>
        <p:txBody>
          <a:bodyPr wrap="square" rtlCol="0" anchor="ctr"/>
          <a:lstStyle/>
          <a:p>
            <a:pPr indent="0" marL="0">
              <a:buNone/>
            </a:pPr>
            <a:r>
              <a:rPr lang="en-US" sz="1150" b="1" dirty="0">
                <a:solidFill>
                  <a:srgbClr val="2E9BB8"/>
                </a:solidFill>
                <a:latin typeface="Calibri" pitchFamily="34" charset="0"/>
                <a:ea typeface="Calibri" pitchFamily="34" charset="-122"/>
                <a:cs typeface="Calibri" pitchFamily="34" charset="-120"/>
              </a:rPr>
              <a:t>EXPECTED RESULTS</a:t>
            </a:r>
            <a:endParaRPr lang="en-US" sz="1150" dirty="0"/>
          </a:p>
        </p:txBody>
      </p:sp>
      <p:sp>
        <p:nvSpPr>
          <p:cNvPr id="20" name="Text 18"/>
          <p:cNvSpPr/>
          <p:nvPr/>
        </p:nvSpPr>
        <p:spPr>
          <a:xfrm>
            <a:off x="548640" y="5687568"/>
            <a:ext cx="11064240" cy="1097280"/>
          </a:xfrm>
          <a:prstGeom prst="rect">
            <a:avLst/>
          </a:prstGeom>
          <a:noFill/>
          <a:ln/>
        </p:spPr>
        <p:txBody>
          <a:bodyPr wrap="square" rtlCol="0" anchor="ctr"/>
          <a:lstStyle/>
          <a:p>
            <a:pPr indent="0" marL="0">
              <a:lnSpc>
                <a:spcPct val="125000"/>
              </a:lnSpc>
              <a:buNone/>
            </a:pPr>
            <a:r>
              <a:rPr lang="en-US" sz="1300" dirty="0">
                <a:solidFill>
                  <a:srgbClr val="F0F5F7"/>
                </a:solidFill>
                <a:latin typeface="Calibri" pitchFamily="34" charset="0"/>
                <a:ea typeface="Calibri" pitchFamily="34" charset="-122"/>
                <a:cs typeface="Calibri" pitchFamily="34" charset="-120"/>
              </a:rPr>
              <a:t>25–30 participants → improved practical skills, strong participant satisfaction, stronger diplomatic awareness, and enhanced international networking.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3D5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2E9BB8">
              <a:alpha val="18000"/>
            </a:srgbClr>
          </a:solidFill>
          <a:ln/>
        </p:spPr>
      </p:sp>
      <p:sp>
        <p:nvSpPr>
          <p:cNvPr id="3" name="Text 1"/>
          <p:cNvSpPr/>
          <p:nvPr/>
        </p:nvSpPr>
        <p:spPr>
          <a:xfrm>
            <a:off x="731520" y="2286000"/>
            <a:ext cx="9144000" cy="8229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Get Involved</a:t>
            </a:r>
            <a:endParaRPr lang="en-US" sz="3800" dirty="0"/>
          </a:p>
        </p:txBody>
      </p:sp>
      <p:sp>
        <p:nvSpPr>
          <p:cNvPr id="4" name="Text 2"/>
          <p:cNvSpPr/>
          <p:nvPr/>
        </p:nvSpPr>
        <p:spPr>
          <a:xfrm>
            <a:off x="731520" y="3063240"/>
            <a:ext cx="9144000" cy="457200"/>
          </a:xfrm>
          <a:prstGeom prst="rect">
            <a:avLst/>
          </a:prstGeom>
          <a:noFill/>
          <a:ln/>
        </p:spPr>
        <p:txBody>
          <a:bodyPr wrap="square" rtlCol="0" anchor="ctr"/>
          <a:lstStyle/>
          <a:p>
            <a:pPr indent="0" marL="0">
              <a:buNone/>
            </a:pPr>
            <a:r>
              <a:rPr lang="en-US" sz="1600" dirty="0">
                <a:solidFill>
                  <a:srgbClr val="CFE3EC"/>
                </a:solidFill>
                <a:latin typeface="Calibri" pitchFamily="34" charset="0"/>
                <a:ea typeface="Calibri" pitchFamily="34" charset="-122"/>
                <a:cs typeface="Calibri" pitchFamily="34" charset="-120"/>
              </a:rPr>
              <a:t>SCOLAR Network — Islamabad Candidate Hub</a:t>
            </a:r>
            <a:endParaRPr lang="en-US" sz="1600" dirty="0"/>
          </a:p>
        </p:txBody>
      </p:sp>
      <p:sp>
        <p:nvSpPr>
          <p:cNvPr id="5" name="Shape 3"/>
          <p:cNvSpPr/>
          <p:nvPr/>
        </p:nvSpPr>
        <p:spPr>
          <a:xfrm>
            <a:off x="777240" y="3703320"/>
            <a:ext cx="1280160" cy="0"/>
          </a:xfrm>
          <a:prstGeom prst="line">
            <a:avLst/>
          </a:prstGeom>
          <a:noFill/>
          <a:ln w="31750">
            <a:solidFill>
              <a:srgbClr val="2E9BB8"/>
            </a:solidFill>
            <a:prstDash val="solid"/>
          </a:ln>
        </p:spPr>
      </p:sp>
      <p:sp>
        <p:nvSpPr>
          <p:cNvPr id="6" name="Text 4"/>
          <p:cNvSpPr/>
          <p:nvPr/>
        </p:nvSpPr>
        <p:spPr>
          <a:xfrm>
            <a:off x="777240" y="3931920"/>
            <a:ext cx="5486400" cy="365760"/>
          </a:xfrm>
          <a:prstGeom prst="rect">
            <a:avLst/>
          </a:prstGeom>
          <a:noFill/>
          <a:ln/>
        </p:spPr>
        <p:txBody>
          <a:bodyPr wrap="square" rtlCol="0" anchor="ctr"/>
          <a:lstStyle/>
          <a:p>
            <a:pPr indent="0" marL="0">
              <a:buNone/>
            </a:pPr>
            <a:r>
              <a:rPr lang="en-US" sz="1300" dirty="0">
                <a:solidFill>
                  <a:srgbClr val="9FC7D6"/>
                </a:solidFill>
                <a:latin typeface="Calibri" pitchFamily="34" charset="0"/>
                <a:ea typeface="Calibri" pitchFamily="34" charset="-122"/>
                <a:cs typeface="Calibri" pitchFamily="34" charset="-120"/>
              </a:rPr>
              <a:t>Hub Curator   </a:t>
            </a:r>
            <a:pPr indent="0" marL="0">
              <a:buNone/>
            </a:pPr>
            <a:r>
              <a:rPr lang="en-US" sz="1500" b="1" dirty="0">
                <a:solidFill>
                  <a:srgbClr val="FFFFFF"/>
                </a:solidFill>
                <a:latin typeface="Calibri" pitchFamily="34" charset="0"/>
                <a:ea typeface="Calibri" pitchFamily="34" charset="-122"/>
                <a:cs typeface="Calibri" pitchFamily="34" charset="-120"/>
              </a:rPr>
              <a:t>Tariq Asghar</a:t>
            </a:r>
            <a:endParaRPr lang="en-US" sz="1300" dirty="0"/>
          </a:p>
        </p:txBody>
      </p:sp>
      <p:sp>
        <p:nvSpPr>
          <p:cNvPr id="7" name="Text 5"/>
          <p:cNvSpPr/>
          <p:nvPr/>
        </p:nvSpPr>
        <p:spPr>
          <a:xfrm>
            <a:off x="777240" y="4434840"/>
            <a:ext cx="7772400" cy="731520"/>
          </a:xfrm>
          <a:prstGeom prst="rect">
            <a:avLst/>
          </a:prstGeom>
          <a:noFill/>
          <a:ln/>
        </p:spPr>
        <p:txBody>
          <a:bodyPr wrap="square" rtlCol="0" anchor="ctr"/>
          <a:lstStyle/>
          <a:p>
            <a:pPr indent="0" marL="0">
              <a:lnSpc>
                <a:spcPct val="130000"/>
              </a:lnSpc>
              <a:buNone/>
            </a:pPr>
            <a:r>
              <a:rPr lang="en-US" sz="1300" dirty="0">
                <a:solidFill>
                  <a:srgbClr val="CFE3EC"/>
                </a:solidFill>
                <a:latin typeface="Calibri" pitchFamily="34" charset="0"/>
                <a:ea typeface="Calibri" pitchFamily="34" charset="-122"/>
                <a:cs typeface="Calibri" pitchFamily="34" charset="-120"/>
              </a:rPr>
              <a:t>For collaborations, sponsorships, or to join a project team, reach out through the SCOLAR Network Islamabad Hub channels.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2026-08-23T13:46:34Z</dcterms:created>
  <dcterms:modified xsi:type="dcterms:W3CDTF">2026-08-23T13:46:34Z</dcterms:modified>
</cp:coreProperties>
</file>